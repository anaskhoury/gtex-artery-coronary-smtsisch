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9" r:id="rId11"/>
    <p:sldId id="268" r:id="rId12"/>
    <p:sldId id="270" r:id="rId13"/>
    <p:sldId id="271" r:id="rId14"/>
    <p:sldId id="272" r:id="rId15"/>
    <p:sldId id="273" r:id="rId16"/>
    <p:sldId id="274" r:id="rId17"/>
    <p:sldId id="275" r:id="rId18"/>
    <p:sldId id="276" r:id="rId19"/>
    <p:sldId id="265" r:id="rId20"/>
    <p:sldId id="277" r:id="rId21"/>
    <p:sldId id="278" r:id="rId22"/>
    <p:sldId id="279" r:id="rId23"/>
    <p:sldId id="280" r:id="rId24"/>
    <p:sldId id="281" r:id="rId25"/>
    <p:sldId id="282" r:id="rId26"/>
    <p:sldId id="283" r:id="rId27"/>
    <p:sldId id="284" r:id="rId28"/>
    <p:sldId id="285" r:id="rId29"/>
    <p:sldId id="286" r:id="rId30"/>
    <p:sldId id="266" r:id="rId31"/>
    <p:sldId id="288" r:id="rId32"/>
    <p:sldId id="289" r:id="rId33"/>
    <p:sldId id="290" r:id="rId34"/>
    <p:sldId id="291" r:id="rId35"/>
    <p:sldId id="292" r:id="rId36"/>
    <p:sldId id="293" r:id="rId37"/>
    <p:sldId id="294" r:id="rId38"/>
    <p:sldId id="295" r:id="rId39"/>
    <p:sldId id="296" r:id="rId40"/>
    <p:sldId id="297" r:id="rId41"/>
    <p:sldId id="300" r:id="rId42"/>
    <p:sldId id="301" r:id="rId43"/>
    <p:sldId id="302" r:id="rId44"/>
    <p:sldId id="303" r:id="rId45"/>
    <p:sldId id="304" r:id="rId46"/>
    <p:sldId id="305" r:id="rId47"/>
    <p:sldId id="306" r:id="rId48"/>
    <p:sldId id="307" r:id="rId49"/>
    <p:sldId id="308" r:id="rId50"/>
    <p:sldId id="309" r:id="rId51"/>
    <p:sldId id="310" r:id="rId52"/>
    <p:sldId id="313" r:id="rId53"/>
    <p:sldId id="315" r:id="rId54"/>
    <p:sldId id="316" r:id="rId55"/>
    <p:sldId id="318" r:id="rId56"/>
    <p:sldId id="319" r:id="rId57"/>
    <p:sldId id="320" r:id="rId58"/>
    <p:sldId id="321" r:id="rId59"/>
    <p:sldId id="325" r:id="rId60"/>
    <p:sldId id="326" r:id="rId61"/>
    <p:sldId id="328" r:id="rId62"/>
    <p:sldId id="330" r:id="rId63"/>
    <p:sldId id="331" r:id="rId64"/>
    <p:sldId id="332" r:id="rId6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437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0074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6071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6365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8814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3229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685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8403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2218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2556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9187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34223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6258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5946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8869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4751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5239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70317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9511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2301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55991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7533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16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9231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98095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57807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3784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9990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23641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69834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47323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461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498934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49078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73362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29318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62668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468840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8698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88499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94636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46548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789668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62372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35422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70372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249986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68263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058036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713726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8717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513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2775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94190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78967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87122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5.bin"/><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6.bin"/><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7.bin"/><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bin"/><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9.bin"/><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56581" y="1346746"/>
            <a:ext cx="2030540" cy="487710"/>
          </a:xfrm>
          <a:prstGeom prst="rect">
            <a:avLst/>
          </a:prstGeom>
          <a:noFill/>
          <a:ln/>
        </p:spPr>
        <p:txBody>
          <a:bodyPr wrap="square" lIns="0" tIns="0" rIns="0" bIns="0" rtlCol="0" anchor="t"/>
          <a:lstStyle/>
          <a:p>
            <a:pPr marL="0" indent="0" algn="ctr">
              <a:lnSpc>
                <a:spcPts val="3840"/>
              </a:lnSpc>
              <a:spcAft>
                <a:spcPts val="2250"/>
              </a:spcAft>
              <a:buNone/>
            </a:pPr>
            <a:endParaRPr lang="en-US" sz="3840" dirty="0"/>
          </a:p>
        </p:txBody>
      </p:sp>
      <p:sp>
        <p:nvSpPr>
          <p:cNvPr id="3" name="Text 1"/>
          <p:cNvSpPr/>
          <p:nvPr/>
        </p:nvSpPr>
        <p:spPr>
          <a:xfrm>
            <a:off x="2553303" y="2120205"/>
            <a:ext cx="4037246" cy="321766"/>
          </a:xfrm>
          <a:prstGeom prst="rect">
            <a:avLst/>
          </a:prstGeom>
          <a:noFill/>
          <a:ln/>
        </p:spPr>
        <p:txBody>
          <a:bodyPr wrap="square" lIns="0" tIns="0" rIns="0" bIns="0" rtlCol="0" anchor="t"/>
          <a:lstStyle/>
          <a:p>
            <a:pPr marL="0" indent="0" algn="ctr">
              <a:lnSpc>
                <a:spcPts val="2533"/>
              </a:lnSpc>
              <a:spcBef>
                <a:spcPts val="1500"/>
              </a:spcBef>
              <a:spcAft>
                <a:spcPts val="1500"/>
              </a:spcAft>
              <a:buNone/>
            </a:pPr>
            <a:r>
              <a:rPr lang="en-US" sz="2280" dirty="0">
                <a:solidFill>
                  <a:srgbClr val="E0E0E0"/>
                </a:solidFill>
                <a:latin typeface="Arial" pitchFamily="34" charset="0"/>
                <a:ea typeface="Arial" pitchFamily="34" charset="-122"/>
                <a:cs typeface="Arial" pitchFamily="34" charset="-120"/>
              </a:rPr>
              <a:t>Data Cleaning &amp; Normalization</a:t>
            </a:r>
            <a:endParaRPr lang="en-US" sz="2280" dirty="0"/>
          </a:p>
        </p:txBody>
      </p:sp>
      <p:sp>
        <p:nvSpPr>
          <p:cNvPr id="4" name="Text 2"/>
          <p:cNvSpPr/>
          <p:nvPr/>
        </p:nvSpPr>
        <p:spPr>
          <a:xfrm>
            <a:off x="2553303" y="2822972"/>
            <a:ext cx="4037246" cy="277267"/>
          </a:xfrm>
          <a:prstGeom prst="rect">
            <a:avLst/>
          </a:prstGeom>
          <a:noFill/>
          <a:ln/>
        </p:spPr>
        <p:txBody>
          <a:bodyPr wrap="square" lIns="0" tIns="0" rIns="0" bIns="0" rtlCol="0" anchor="t"/>
          <a:lstStyle/>
          <a:p>
            <a:pPr marL="0" indent="0" algn="ctr">
              <a:lnSpc>
                <a:spcPts val="2184"/>
              </a:lnSpc>
              <a:spcBef>
                <a:spcPts val="3000"/>
              </a:spcBef>
              <a:spcAft>
                <a:spcPts val="300"/>
              </a:spcAft>
              <a:buNone/>
            </a:pPr>
            <a:r>
              <a:rPr lang="en-US" sz="1560" dirty="0">
                <a:solidFill>
                  <a:srgbClr val="B0B0B0"/>
                </a:solidFill>
                <a:latin typeface="Arial" pitchFamily="34" charset="0"/>
                <a:ea typeface="Arial" pitchFamily="34" charset="-122"/>
                <a:cs typeface="Arial" pitchFamily="34" charset="-120"/>
              </a:rPr>
              <a:t>Gene Expression Analysis</a:t>
            </a:r>
            <a:endParaRPr lang="en-US" sz="1560" dirty="0"/>
          </a:p>
        </p:txBody>
      </p:sp>
      <p:sp>
        <p:nvSpPr>
          <p:cNvPr id="5" name="Text 3"/>
          <p:cNvSpPr/>
          <p:nvPr/>
        </p:nvSpPr>
        <p:spPr>
          <a:xfrm>
            <a:off x="2553303" y="3481239"/>
            <a:ext cx="4037246" cy="277267"/>
          </a:xfrm>
          <a:prstGeom prst="rect">
            <a:avLst/>
          </a:prstGeom>
          <a:noFill/>
          <a:ln/>
        </p:spPr>
        <p:txBody>
          <a:bodyPr wrap="square" lIns="0" tIns="0" rIns="0" bIns="0" rtlCol="0" anchor="t"/>
          <a:lstStyle/>
          <a:p>
            <a:pPr marL="0" indent="0" algn="ctr">
              <a:lnSpc>
                <a:spcPts val="2184"/>
              </a:lnSpc>
              <a:spcBef>
                <a:spcPts val="3000"/>
              </a:spcBef>
              <a:spcAft>
                <a:spcPts val="300"/>
              </a:spcAft>
              <a:buNone/>
            </a:pPr>
            <a:r>
              <a:rPr lang="en-US" sz="1560" dirty="0">
                <a:solidFill>
                  <a:srgbClr val="B0B0B0"/>
                </a:solidFill>
                <a:latin typeface="Arial" pitchFamily="34" charset="0"/>
                <a:ea typeface="Arial" pitchFamily="34" charset="-122"/>
                <a:cs typeface="Arial" pitchFamily="34" charset="-120"/>
              </a:rPr>
              <a:t>Tissue: Artery - Coronary</a:t>
            </a:r>
            <a:endParaRPr lang="en-US" sz="1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168646" cy="365820"/>
          </a:xfrm>
          <a:prstGeom prst="rect">
            <a:avLst/>
          </a:prstGeom>
          <a:noFill/>
          <a:ln/>
        </p:spPr>
        <p:txBody>
          <a:bodyPr wrap="square" lIns="0" tIns="0" rIns="0" bIns="0" rtlCol="0" anchor="t"/>
          <a:lstStyle/>
          <a:p>
            <a:pPr marL="0" indent="0" algn="l">
              <a:lnSpc>
                <a:spcPts val="2880"/>
              </a:lnSpc>
              <a:spcAft>
                <a:spcPts val="3000"/>
              </a:spcAft>
              <a:buNone/>
            </a:pPr>
            <a:r>
              <a:rPr lang="en-US" sz="2880" b="1" dirty="0">
                <a:solidFill>
                  <a:srgbClr val="6AB0FF"/>
                </a:solidFill>
                <a:latin typeface="Arial" pitchFamily="34" charset="0"/>
                <a:ea typeface="Arial" pitchFamily="34" charset="-122"/>
                <a:cs typeface="Arial" pitchFamily="34" charset="-120"/>
              </a:rPr>
              <a:t>What is the Coronary Artery?</a:t>
            </a:r>
            <a:endParaRPr lang="en-US" sz="2880" dirty="0"/>
          </a:p>
        </p:txBody>
      </p:sp>
      <p:sp>
        <p:nvSpPr>
          <p:cNvPr id="3" name="Text 1"/>
          <p:cNvSpPr/>
          <p:nvPr/>
        </p:nvSpPr>
        <p:spPr>
          <a:xfrm>
            <a:off x="666750" y="1223070"/>
            <a:ext cx="7810500" cy="2667000"/>
          </a:xfrm>
          <a:prstGeom prst="rect">
            <a:avLst/>
          </a:prstGeom>
          <a:noFill/>
          <a:ln/>
        </p:spPr>
        <p:txBody>
          <a:bodyPr wrap="square" lIns="190500" tIns="0" rIns="0" bIns="0" rtlCol="0" anchor="t"/>
          <a:lstStyle/>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Coronary arteries are blood vessels that supply oxygen and nutrients directly to the heart muscle</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They are essential for proper heart contraction and energy production</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Blockage or dysfunction can lead to ischemia, atherosclerosis, or myocardial infarction</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Studying gene expression in this tissue helps identify molecular mechanisms behind cardiovascular diseases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6111050" cy="319980"/>
          </a:xfrm>
          <a:prstGeom prst="rect">
            <a:avLst/>
          </a:prstGeom>
          <a:noFill/>
          <a:ln/>
        </p:spPr>
        <p:txBody>
          <a:bodyPr wrap="square" lIns="0" tIns="0" rIns="0" bIns="0" rtlCol="0" anchor="t"/>
          <a:lstStyle/>
          <a:p>
            <a:pPr marL="0" indent="0" algn="l">
              <a:lnSpc>
                <a:spcPts val="2520"/>
              </a:lnSpc>
              <a:spcAft>
                <a:spcPts val="1875"/>
              </a:spcAft>
              <a:buNone/>
            </a:pPr>
            <a:r>
              <a:rPr lang="en-US" sz="2520" b="1" dirty="0">
                <a:solidFill>
                  <a:srgbClr val="6AB0FF"/>
                </a:solidFill>
                <a:latin typeface="Arial" pitchFamily="34" charset="0"/>
                <a:ea typeface="Arial" pitchFamily="34" charset="-122"/>
                <a:cs typeface="Arial" pitchFamily="34" charset="-120"/>
              </a:rPr>
              <a:t>Distribution Before Log Transformation</a:t>
            </a:r>
            <a:endParaRPr lang="en-US" sz="2520" dirty="0"/>
          </a:p>
        </p:txBody>
      </p:sp>
      <p:pic>
        <p:nvPicPr>
          <p:cNvPr id="7" name="Picture 6">
            <a:extLst>
              <a:ext uri="{FF2B5EF4-FFF2-40B4-BE49-F238E27FC236}">
                <a16:creationId xmlns:a16="http://schemas.microsoft.com/office/drawing/2014/main" id="{550AB5CA-AFE6-A9D4-CA62-1585E3FD0D9B}"/>
              </a:ext>
            </a:extLst>
          </p:cNvPr>
          <p:cNvPicPr>
            <a:picLocks noChangeAspect="1"/>
          </p:cNvPicPr>
          <p:nvPr/>
        </p:nvPicPr>
        <p:blipFill>
          <a:blip r:embed="rId3"/>
          <a:stretch>
            <a:fillRect/>
          </a:stretch>
        </p:blipFill>
        <p:spPr>
          <a:xfrm>
            <a:off x="1880839" y="768451"/>
            <a:ext cx="4962648" cy="39397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7529513" cy="365820"/>
          </a:xfrm>
          <a:prstGeom prst="rect">
            <a:avLst/>
          </a:prstGeom>
          <a:noFill/>
          <a:ln/>
        </p:spPr>
        <p:txBody>
          <a:bodyPr wrap="square" lIns="0" tIns="0" rIns="0" bIns="0" rtlCol="0" anchor="t"/>
          <a:lstStyle/>
          <a:p>
            <a:pPr marL="0" indent="0" algn="l">
              <a:lnSpc>
                <a:spcPts val="2880"/>
              </a:lnSpc>
              <a:spcAft>
                <a:spcPts val="3000"/>
              </a:spcAft>
              <a:buNone/>
            </a:pPr>
            <a:r>
              <a:rPr lang="en-US" sz="2880" b="1" dirty="0">
                <a:solidFill>
                  <a:srgbClr val="6AB0FF"/>
                </a:solidFill>
                <a:latin typeface="Arial" pitchFamily="34" charset="0"/>
                <a:ea typeface="Arial" pitchFamily="34" charset="-122"/>
                <a:cs typeface="Arial" pitchFamily="34" charset="-120"/>
              </a:rPr>
              <a:t>Before Log Transformation - Interpretation</a:t>
            </a:r>
            <a:endParaRPr lang="en-US" sz="2880" dirty="0"/>
          </a:p>
        </p:txBody>
      </p:sp>
      <p:sp>
        <p:nvSpPr>
          <p:cNvPr id="3" name="Text 1"/>
          <p:cNvSpPr/>
          <p:nvPr/>
        </p:nvSpPr>
        <p:spPr>
          <a:xfrm>
            <a:off x="666750" y="1223070"/>
            <a:ext cx="7810500" cy="2552700"/>
          </a:xfrm>
          <a:prstGeom prst="rect">
            <a:avLst/>
          </a:prstGeom>
          <a:noFill/>
          <a:ln/>
        </p:spPr>
        <p:txBody>
          <a:bodyPr wrap="square" lIns="190500" tIns="0" rIns="0" bIns="0" rtlCol="0" anchor="t"/>
          <a:lstStyle/>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The distribution is highly skewed</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Most genes have very low expression values</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A small number of genes have extremely high expression</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This imbalance makes statistical analysis difficult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7762684" cy="350490"/>
          </a:xfrm>
          <a:prstGeom prst="rect">
            <a:avLst/>
          </a:prstGeom>
          <a:noFill/>
          <a:ln/>
        </p:spPr>
        <p:txBody>
          <a:bodyPr wrap="square" lIns="0" tIns="0" rIns="0" bIns="0" rtlCol="0" anchor="t"/>
          <a:lstStyle/>
          <a:p>
            <a:pPr marL="0" indent="0" algn="l">
              <a:lnSpc>
                <a:spcPts val="2760"/>
              </a:lnSpc>
              <a:spcAft>
                <a:spcPts val="3000"/>
              </a:spcAft>
              <a:buNone/>
            </a:pPr>
            <a:r>
              <a:rPr lang="en-US" sz="2760" b="1" dirty="0">
                <a:solidFill>
                  <a:srgbClr val="6AB0FF"/>
                </a:solidFill>
                <a:latin typeface="Arial" pitchFamily="34" charset="0"/>
                <a:ea typeface="Arial" pitchFamily="34" charset="-122"/>
                <a:cs typeface="Arial" pitchFamily="34" charset="-120"/>
              </a:rPr>
              <a:t>Why Do We Apply Log2(x+1) Transformation?</a:t>
            </a:r>
            <a:endParaRPr lang="en-US" sz="2760" dirty="0"/>
          </a:p>
        </p:txBody>
      </p:sp>
      <p:sp>
        <p:nvSpPr>
          <p:cNvPr id="3" name="Text 1"/>
          <p:cNvSpPr/>
          <p:nvPr/>
        </p:nvSpPr>
        <p:spPr>
          <a:xfrm>
            <a:off x="666750" y="1207740"/>
            <a:ext cx="7810500" cy="3009900"/>
          </a:xfrm>
          <a:prstGeom prst="rect">
            <a:avLst/>
          </a:prstGeom>
          <a:noFill/>
          <a:ln/>
        </p:spPr>
        <p:txBody>
          <a:bodyPr wrap="square" lIns="190500" tIns="0" rIns="0" bIns="0" rtlCol="0" anchor="t"/>
          <a:lstStyle/>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Gene expression values span several orders of magnitude</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Log transformation compresses extreme values</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Reduces skewness and stabilizes variance</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Makes expression differences between genes easier to compare</a:t>
            </a:r>
            <a:endParaRPr lang="en-US" sz="1350" dirty="0"/>
          </a:p>
          <a:p>
            <a:pPr marL="190500" indent="-190500" algn="l">
              <a:lnSpc>
                <a:spcPts val="2100"/>
              </a:lnSpc>
              <a:spcAft>
                <a:spcPts val="1200"/>
              </a:spcAft>
              <a:buSzPct val="100000"/>
              <a:buChar char="•"/>
            </a:pPr>
            <a:r>
              <a:rPr lang="en-US" sz="1350" dirty="0">
                <a:solidFill>
                  <a:srgbClr val="E8EAED"/>
                </a:solidFill>
                <a:latin typeface="Arial" pitchFamily="34" charset="0"/>
                <a:ea typeface="Arial" pitchFamily="34" charset="-122"/>
                <a:cs typeface="Arial" pitchFamily="34" charset="-120"/>
              </a:rPr>
              <a:t>Prepares data for normalization and downstream analysis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6781419" cy="319980"/>
          </a:xfrm>
          <a:prstGeom prst="rect">
            <a:avLst/>
          </a:prstGeom>
          <a:noFill/>
          <a:ln/>
        </p:spPr>
        <p:txBody>
          <a:bodyPr wrap="square" lIns="0" tIns="0" rIns="0" bIns="0" rtlCol="0" anchor="t"/>
          <a:lstStyle/>
          <a:p>
            <a:pPr marL="0" indent="0" algn="l">
              <a:lnSpc>
                <a:spcPts val="2520"/>
              </a:lnSpc>
              <a:spcAft>
                <a:spcPts val="1875"/>
              </a:spcAft>
              <a:buNone/>
            </a:pPr>
            <a:r>
              <a:rPr lang="en-US" sz="2520" b="1" dirty="0">
                <a:solidFill>
                  <a:srgbClr val="6AB0FF"/>
                </a:solidFill>
                <a:latin typeface="Arial" pitchFamily="34" charset="0"/>
                <a:ea typeface="Arial" pitchFamily="34" charset="-122"/>
                <a:cs typeface="Arial" pitchFamily="34" charset="-120"/>
              </a:rPr>
              <a:t>Distribution After Log2(x+1) Transformation</a:t>
            </a:r>
            <a:endParaRPr lang="en-US" sz="2520" dirty="0"/>
          </a:p>
        </p:txBody>
      </p:sp>
      <p:pic>
        <p:nvPicPr>
          <p:cNvPr id="3" name="Image 0" descr="lab2_dist_after.png"/>
          <p:cNvPicPr>
            <a:picLocks noChangeAspect="1"/>
          </p:cNvPicPr>
          <p:nvPr/>
        </p:nvPicPr>
        <p:blipFill>
          <a:blip r:embed="rId3"/>
          <a:stretch>
            <a:fillRect/>
          </a:stretch>
        </p:blipFill>
        <p:spPr>
          <a:xfrm>
            <a:off x="914400" y="1371600"/>
            <a:ext cx="73152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7218617" cy="365820"/>
          </a:xfrm>
          <a:prstGeom prst="rect">
            <a:avLst/>
          </a:prstGeom>
          <a:noFill/>
          <a:ln/>
        </p:spPr>
        <p:txBody>
          <a:bodyPr wrap="square" lIns="0" tIns="0" rIns="0" bIns="0" rtlCol="0" anchor="t"/>
          <a:lstStyle/>
          <a:p>
            <a:pPr marL="0" indent="0" algn="l">
              <a:lnSpc>
                <a:spcPts val="2880"/>
              </a:lnSpc>
              <a:spcAft>
                <a:spcPts val="3000"/>
              </a:spcAft>
              <a:buNone/>
            </a:pPr>
            <a:r>
              <a:rPr lang="en-US" sz="2880" b="1" dirty="0">
                <a:solidFill>
                  <a:srgbClr val="6AB0FF"/>
                </a:solidFill>
                <a:latin typeface="Arial" pitchFamily="34" charset="0"/>
                <a:ea typeface="Arial" pitchFamily="34" charset="-122"/>
                <a:cs typeface="Arial" pitchFamily="34" charset="-120"/>
              </a:rPr>
              <a:t>After Log Transformation - Interpretation</a:t>
            </a:r>
            <a:endParaRPr lang="en-US" sz="2880" dirty="0"/>
          </a:p>
        </p:txBody>
      </p:sp>
      <p:sp>
        <p:nvSpPr>
          <p:cNvPr id="3" name="Text 1"/>
          <p:cNvSpPr/>
          <p:nvPr/>
        </p:nvSpPr>
        <p:spPr>
          <a:xfrm>
            <a:off x="666750" y="1223070"/>
            <a:ext cx="7810500" cy="2552700"/>
          </a:xfrm>
          <a:prstGeom prst="rect">
            <a:avLst/>
          </a:prstGeom>
          <a:noFill/>
          <a:ln/>
        </p:spPr>
        <p:txBody>
          <a:bodyPr wrap="square" lIns="190500" tIns="0" rIns="0" bIns="0" rtlCol="0" anchor="t"/>
          <a:lstStyle/>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Expression values are compressed into a smaller range</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Distribution becomes smoother and more balanced</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Differences between low and medium expression genes are clearer</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Data is now suitable for statistical analysis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6159627" cy="350490"/>
          </a:xfrm>
          <a:prstGeom prst="rect">
            <a:avLst/>
          </a:prstGeom>
          <a:noFill/>
          <a:ln/>
        </p:spPr>
        <p:txBody>
          <a:bodyPr wrap="square" lIns="0" tIns="0" rIns="0" bIns="0" rtlCol="0" anchor="t"/>
          <a:lstStyle/>
          <a:p>
            <a:pPr marL="0" indent="0" algn="l">
              <a:lnSpc>
                <a:spcPts val="2760"/>
              </a:lnSpc>
              <a:spcAft>
                <a:spcPts val="2625"/>
              </a:spcAft>
              <a:buNone/>
            </a:pPr>
            <a:r>
              <a:rPr lang="en-US" sz="2760" b="1" dirty="0">
                <a:solidFill>
                  <a:srgbClr val="6AB0FF"/>
                </a:solidFill>
                <a:latin typeface="Arial" pitchFamily="34" charset="0"/>
                <a:ea typeface="Arial" pitchFamily="34" charset="-122"/>
                <a:cs typeface="Arial" pitchFamily="34" charset="-120"/>
              </a:rPr>
              <a:t>Why Do We Perform Gene Filtering?</a:t>
            </a:r>
            <a:endParaRPr lang="en-US" sz="2760" dirty="0"/>
          </a:p>
        </p:txBody>
      </p:sp>
      <p:sp>
        <p:nvSpPr>
          <p:cNvPr id="3" name="Text 1"/>
          <p:cNvSpPr/>
          <p:nvPr/>
        </p:nvSpPr>
        <p:spPr>
          <a:xfrm>
            <a:off x="666750" y="1160115"/>
            <a:ext cx="7966710" cy="361950"/>
          </a:xfrm>
          <a:prstGeom prst="rect">
            <a:avLst/>
          </a:prstGeom>
          <a:noFill/>
          <a:ln/>
        </p:spPr>
        <p:txBody>
          <a:bodyPr wrap="square" lIns="0" tIns="0" rIns="0" bIns="0" rtlCol="0" anchor="t"/>
          <a:lstStyle/>
          <a:p>
            <a:pPr marL="0" indent="0" algn="l">
              <a:lnSpc>
                <a:spcPts val="2850"/>
              </a:lnSpc>
              <a:spcBef>
                <a:spcPts val="1350"/>
              </a:spcBef>
              <a:spcAft>
                <a:spcPts val="1350"/>
              </a:spcAft>
              <a:buNone/>
            </a:pPr>
            <a:r>
              <a:rPr lang="en-US" sz="1500" b="1" dirty="0">
                <a:solidFill>
                  <a:srgbClr val="E8EAED"/>
                </a:solidFill>
                <a:latin typeface="Arial" pitchFamily="34" charset="0"/>
                <a:ea typeface="Arial" pitchFamily="34" charset="-122"/>
                <a:cs typeface="Arial" pitchFamily="34" charset="-120"/>
              </a:rPr>
              <a:t>Gene expression datasets contain many genes with:</a:t>
            </a:r>
            <a:endParaRPr lang="en-US" sz="1500" dirty="0"/>
          </a:p>
        </p:txBody>
      </p:sp>
      <p:sp>
        <p:nvSpPr>
          <p:cNvPr id="4" name="Text 2"/>
          <p:cNvSpPr/>
          <p:nvPr/>
        </p:nvSpPr>
        <p:spPr>
          <a:xfrm>
            <a:off x="666750" y="1693515"/>
            <a:ext cx="7810500" cy="952500"/>
          </a:xfrm>
          <a:prstGeom prst="rect">
            <a:avLst/>
          </a:prstGeom>
          <a:noFill/>
          <a:ln/>
        </p:spPr>
        <p:txBody>
          <a:bodyPr wrap="square" lIns="190500" tIns="0" rIns="0" bIns="0" rtlCol="0" anchor="t"/>
          <a:lstStyle/>
          <a:p>
            <a:pPr marL="190500" indent="-190500" algn="l">
              <a:lnSpc>
                <a:spcPts val="2100"/>
              </a:lnSpc>
              <a:spcAft>
                <a:spcPts val="750"/>
              </a:spcAft>
              <a:buSzPct val="100000"/>
              <a:buChar char="•"/>
            </a:pPr>
            <a:r>
              <a:rPr lang="en-US" sz="1350" dirty="0">
                <a:solidFill>
                  <a:srgbClr val="E8EAED"/>
                </a:solidFill>
                <a:latin typeface="Arial" pitchFamily="34" charset="0"/>
                <a:ea typeface="Arial" pitchFamily="34" charset="-122"/>
                <a:cs typeface="Arial" pitchFamily="34" charset="-120"/>
              </a:rPr>
              <a:t>Very low expression across all samples</a:t>
            </a:r>
            <a:endParaRPr lang="en-US" sz="1350" dirty="0"/>
          </a:p>
          <a:p>
            <a:pPr marL="190500" indent="-190500" algn="l">
              <a:lnSpc>
                <a:spcPts val="2100"/>
              </a:lnSpc>
              <a:spcAft>
                <a:spcPts val="750"/>
              </a:spcAft>
              <a:buSzPct val="100000"/>
              <a:buChar char="•"/>
            </a:pPr>
            <a:r>
              <a:rPr lang="en-US" sz="1350" dirty="0">
                <a:solidFill>
                  <a:srgbClr val="E8EAED"/>
                </a:solidFill>
                <a:latin typeface="Arial" pitchFamily="34" charset="0"/>
                <a:ea typeface="Arial" pitchFamily="34" charset="-122"/>
                <a:cs typeface="Arial" pitchFamily="34" charset="-120"/>
              </a:rPr>
              <a:t>Little or no variance</a:t>
            </a:r>
            <a:endParaRPr lang="en-US" sz="1350" dirty="0"/>
          </a:p>
        </p:txBody>
      </p:sp>
      <p:sp>
        <p:nvSpPr>
          <p:cNvPr id="5" name="Text 3"/>
          <p:cNvSpPr/>
          <p:nvPr/>
        </p:nvSpPr>
        <p:spPr>
          <a:xfrm>
            <a:off x="666750" y="2817465"/>
            <a:ext cx="7966710" cy="361950"/>
          </a:xfrm>
          <a:prstGeom prst="rect">
            <a:avLst/>
          </a:prstGeom>
          <a:noFill/>
          <a:ln/>
        </p:spPr>
        <p:txBody>
          <a:bodyPr wrap="square" lIns="0" tIns="0" rIns="0" bIns="0" rtlCol="0" anchor="t"/>
          <a:lstStyle/>
          <a:p>
            <a:pPr marL="0" indent="0" algn="l">
              <a:lnSpc>
                <a:spcPts val="2850"/>
              </a:lnSpc>
              <a:spcBef>
                <a:spcPts val="1350"/>
              </a:spcBef>
              <a:spcAft>
                <a:spcPts val="1350"/>
              </a:spcAft>
              <a:buNone/>
            </a:pPr>
            <a:r>
              <a:rPr lang="en-US" sz="1500" b="1" dirty="0">
                <a:solidFill>
                  <a:srgbClr val="E8EAED"/>
                </a:solidFill>
                <a:latin typeface="Arial" pitchFamily="34" charset="0"/>
                <a:ea typeface="Arial" pitchFamily="34" charset="-122"/>
                <a:cs typeface="Arial" pitchFamily="34" charset="-120"/>
              </a:rPr>
              <a:t>Such genes represent technical noise. Including them can:</a:t>
            </a:r>
            <a:endParaRPr lang="en-US" sz="1500" dirty="0"/>
          </a:p>
        </p:txBody>
      </p:sp>
      <p:sp>
        <p:nvSpPr>
          <p:cNvPr id="6" name="Text 4"/>
          <p:cNvSpPr/>
          <p:nvPr/>
        </p:nvSpPr>
        <p:spPr>
          <a:xfrm>
            <a:off x="666750" y="3350865"/>
            <a:ext cx="7810500" cy="952500"/>
          </a:xfrm>
          <a:prstGeom prst="rect">
            <a:avLst/>
          </a:prstGeom>
          <a:noFill/>
          <a:ln/>
        </p:spPr>
        <p:txBody>
          <a:bodyPr wrap="square" lIns="190500" tIns="0" rIns="0" bIns="0" rtlCol="0" anchor="t"/>
          <a:lstStyle/>
          <a:p>
            <a:pPr marL="190500" indent="-190500" algn="l">
              <a:lnSpc>
                <a:spcPts val="2100"/>
              </a:lnSpc>
              <a:spcAft>
                <a:spcPts val="750"/>
              </a:spcAft>
              <a:buSzPct val="100000"/>
              <a:buChar char="•"/>
            </a:pPr>
            <a:r>
              <a:rPr lang="en-US" sz="1350" dirty="0">
                <a:solidFill>
                  <a:srgbClr val="E8EAED"/>
                </a:solidFill>
                <a:latin typeface="Arial" pitchFamily="34" charset="0"/>
                <a:ea typeface="Arial" pitchFamily="34" charset="-122"/>
                <a:cs typeface="Arial" pitchFamily="34" charset="-120"/>
              </a:rPr>
              <a:t>Mask meaningful patterns</a:t>
            </a:r>
            <a:endParaRPr lang="en-US" sz="1350" dirty="0"/>
          </a:p>
          <a:p>
            <a:pPr marL="190500" indent="-190500" algn="l">
              <a:lnSpc>
                <a:spcPts val="2100"/>
              </a:lnSpc>
              <a:spcAft>
                <a:spcPts val="750"/>
              </a:spcAft>
              <a:buSzPct val="100000"/>
              <a:buChar char="•"/>
            </a:pPr>
            <a:r>
              <a:rPr lang="en-US" sz="1350" dirty="0">
                <a:solidFill>
                  <a:srgbClr val="E8EAED"/>
                </a:solidFill>
                <a:latin typeface="Arial" pitchFamily="34" charset="0"/>
                <a:ea typeface="Arial" pitchFamily="34" charset="-122"/>
                <a:cs typeface="Arial" pitchFamily="34" charset="-120"/>
              </a:rPr>
              <a:t>Increase false discoveries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954905" cy="365820"/>
          </a:xfrm>
          <a:prstGeom prst="rect">
            <a:avLst/>
          </a:prstGeom>
          <a:noFill/>
          <a:ln/>
        </p:spPr>
        <p:txBody>
          <a:bodyPr wrap="square" lIns="0" tIns="0" rIns="0" bIns="0" rtlCol="0" anchor="t"/>
          <a:lstStyle/>
          <a:p>
            <a:pPr marL="0" indent="0" algn="l">
              <a:lnSpc>
                <a:spcPts val="2880"/>
              </a:lnSpc>
              <a:spcAft>
                <a:spcPts val="3000"/>
              </a:spcAft>
              <a:buNone/>
            </a:pPr>
            <a:r>
              <a:rPr lang="en-US" sz="2880" b="1" dirty="0">
                <a:solidFill>
                  <a:srgbClr val="6AB0FF"/>
                </a:solidFill>
                <a:latin typeface="Arial" pitchFamily="34" charset="0"/>
                <a:ea typeface="Arial" pitchFamily="34" charset="-122"/>
                <a:cs typeface="Arial" pitchFamily="34" charset="-120"/>
              </a:rPr>
              <a:t>Gene Filtering - Explanation</a:t>
            </a:r>
            <a:endParaRPr lang="en-US" sz="2880" dirty="0"/>
          </a:p>
        </p:txBody>
      </p:sp>
      <p:sp>
        <p:nvSpPr>
          <p:cNvPr id="3" name="Text 1"/>
          <p:cNvSpPr/>
          <p:nvPr/>
        </p:nvSpPr>
        <p:spPr>
          <a:xfrm>
            <a:off x="666750" y="1223070"/>
            <a:ext cx="7810500" cy="3200400"/>
          </a:xfrm>
          <a:prstGeom prst="rect">
            <a:avLst/>
          </a:prstGeom>
          <a:noFill/>
          <a:ln/>
        </p:spPr>
        <p:txBody>
          <a:bodyPr wrap="square" lIns="190500" tIns="0" rIns="0" bIns="0" rtlCol="0" anchor="t"/>
          <a:lstStyle/>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Genes with very low expression or low variance were removed</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Before filtering: 56,200 genes</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After filtering: 17,309 genes</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Removed genes contribute mostly noise</a:t>
            </a:r>
            <a:endParaRPr lang="en-US" sz="1350" dirty="0"/>
          </a:p>
          <a:p>
            <a:pPr marL="190500" indent="-190500" algn="l">
              <a:lnSpc>
                <a:spcPts val="2100"/>
              </a:lnSpc>
              <a:spcAft>
                <a:spcPts val="1350"/>
              </a:spcAft>
              <a:buSzPct val="100000"/>
              <a:buChar char="•"/>
            </a:pPr>
            <a:r>
              <a:rPr lang="en-US" sz="1350" dirty="0">
                <a:solidFill>
                  <a:srgbClr val="E8EAED"/>
                </a:solidFill>
                <a:latin typeface="Arial" pitchFamily="34" charset="0"/>
                <a:ea typeface="Arial" pitchFamily="34" charset="-122"/>
                <a:cs typeface="Arial" pitchFamily="34" charset="-120"/>
              </a:rPr>
              <a:t>Filtering improves reliability of downstream analyses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517719" y="1419820"/>
            <a:ext cx="2108264" cy="487710"/>
          </a:xfrm>
          <a:prstGeom prst="rect">
            <a:avLst/>
          </a:prstGeom>
          <a:noFill/>
          <a:ln/>
        </p:spPr>
        <p:txBody>
          <a:bodyPr wrap="square" lIns="0" tIns="0" rIns="0" bIns="0" rtlCol="0" anchor="t"/>
          <a:lstStyle/>
          <a:p>
            <a:pPr marL="0" marR="0" lvl="0" indent="0" algn="ctr" defTabSz="914400" rtl="0" eaLnBrk="1" fontAlgn="auto" latinLnBrk="0" hangingPunct="1">
              <a:lnSpc>
                <a:spcPts val="3840"/>
              </a:lnSpc>
              <a:spcBef>
                <a:spcPts val="0"/>
              </a:spcBef>
              <a:spcAft>
                <a:spcPts val="2250"/>
              </a:spcAft>
              <a:buClrTx/>
              <a:buSzTx/>
              <a:buFontTx/>
              <a:buNone/>
              <a:tabLst/>
              <a:defRPr/>
            </a:pPr>
            <a:endParaRPr kumimoji="0" lang="en-US" sz="38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2471480" y="2193280"/>
            <a:ext cx="4200891"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Sample Filtering with Meta-Data</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934789" y="2705546"/>
            <a:ext cx="3274124"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&amp; Quantile Normalization</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471480" y="3408313"/>
            <a:ext cx="4200891" cy="277267"/>
          </a:xfrm>
          <a:prstGeom prst="rect">
            <a:avLst/>
          </a:prstGeom>
          <a:noFill/>
          <a:ln/>
        </p:spPr>
        <p:txBody>
          <a:bodyPr wrap="square" lIns="0" tIns="0" rIns="0" bIns="0" rtlCol="0" anchor="t"/>
          <a:lstStyle/>
          <a:p>
            <a:pPr marL="0" marR="0" lvl="0" indent="0" algn="ctr" defTabSz="914400" rtl="0" eaLnBrk="1" fontAlgn="auto" latinLnBrk="0" hangingPunct="1">
              <a:lnSpc>
                <a:spcPts val="2184"/>
              </a:lnSpc>
              <a:spcBef>
                <a:spcPts val="3000"/>
              </a:spcBef>
              <a:spcAft>
                <a:spcPts val="300"/>
              </a:spcAft>
              <a:buClrTx/>
              <a:buSzTx/>
              <a:buFontTx/>
              <a:buNone/>
              <a:tabLst/>
              <a:defRPr/>
            </a:pPr>
            <a:r>
              <a:rPr kumimoji="0" lang="en-US" sz="1560" b="0" i="0" u="none" strike="noStrike" kern="1200" cap="none" spc="0" normalizeH="0" baseline="0" noProof="0" dirty="0">
                <a:ln>
                  <a:noFill/>
                </a:ln>
                <a:solidFill>
                  <a:srgbClr val="B0B0B0"/>
                </a:solidFill>
                <a:effectLst/>
                <a:uLnTx/>
                <a:uFillTx/>
                <a:latin typeface="Arial" pitchFamily="34" charset="0"/>
                <a:ea typeface="Arial" pitchFamily="34" charset="-122"/>
                <a:cs typeface="Arial" pitchFamily="34" charset="-120"/>
              </a:rPr>
              <a:t>Bioinformatics Analysis Pipeline</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040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Lab Overview</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350"/>
              </a:spcBef>
              <a:spcAft>
                <a:spcPts val="135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Objective: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Data cleaning and normalization of gene expression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96963"/>
            <a:ext cx="7810500" cy="2552700"/>
          </a:xfrm>
          <a:prstGeom prst="rect">
            <a:avLst/>
          </a:prstGeom>
          <a:noFill/>
          <a:ln/>
        </p:spPr>
        <p:txBody>
          <a:bodyPr wrap="square" lIns="190500" tIns="0" rIns="0" bIns="0" rtlCol="0" anchor="t"/>
          <a:lstStyle/>
          <a:p>
            <a:pPr marL="190500" marR="0" lvl="0" indent="-190500" algn="l" defTabSz="914400" rtl="0" eaLnBrk="1" fontAlgn="auto" latinLnBrk="0" hangingPunct="1">
              <a:lnSpc>
                <a:spcPts val="2100"/>
              </a:lnSpc>
              <a:spcBef>
                <a:spcPts val="0"/>
              </a:spcBef>
              <a:spcAft>
                <a:spcPts val="13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Apply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quantile normalization</a:t>
            </a: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to gene expression data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13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Filter samples by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tissue type</a:t>
            </a: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(Artery - Coronary)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13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Match samples with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expression data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13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Filter by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RNA quality</a:t>
            </a: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(RIN &gt; 6.0)</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431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428625"/>
            <a:ext cx="5984748"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2625"/>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1: RIN Statistics - Before Filtering</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1081980"/>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2250"/>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Summary Statistics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478756"/>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Count: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19,998</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Mean: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7.30</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Std: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1.06</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926134"/>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Min: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3.1</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25%: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6.5</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50%: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7.2</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373511"/>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75%: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8.0</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Max: </a:t>
            </a:r>
            <a:r>
              <a:rPr kumimoji="0" lang="en-US" sz="13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10.0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992338"/>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2250"/>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RIN Value Range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389114"/>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Range: 3.1 - 10.0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3836491"/>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Wide variability indicates the need for quality filtering</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0699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428625"/>
            <a:ext cx="4537139"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2250"/>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2: RIN Filtering (RIN ≥ 6)</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1034355"/>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1875"/>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Filtering Results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431131"/>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Before Filtering: </a:t>
            </a: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22,951</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878509"/>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After Filtering: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18,138</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449711"/>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1875"/>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Improved Statistics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846487"/>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Mean: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7.46</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Std: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0.99</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293864"/>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Min: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6.0</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25%: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6.7</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50%: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7.3</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75%: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8.1</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3741241"/>
            <a:ext cx="8161020" cy="333077"/>
          </a:xfrm>
          <a:prstGeom prst="rect">
            <a:avLst/>
          </a:prstGeom>
          <a:noFill/>
          <a:ln/>
        </p:spPr>
        <p:txBody>
          <a:bodyPr wrap="square" lIns="0" tIns="0" rIns="0" bIns="0" rtlCol="0" anchor="t"/>
          <a:lstStyle/>
          <a:p>
            <a:pPr marL="0" marR="0" lvl="0" indent="0" algn="l" defTabSz="914400" rtl="0" eaLnBrk="1" fontAlgn="auto" latinLnBrk="0" hangingPunct="1">
              <a:lnSpc>
                <a:spcPts val="2622"/>
              </a:lnSpc>
              <a:spcBef>
                <a:spcPts val="900"/>
              </a:spcBef>
              <a:spcAft>
                <a:spcPts val="900"/>
              </a:spcAft>
              <a:buClrTx/>
              <a:buSzTx/>
              <a:buFontTx/>
              <a:buNone/>
              <a:tabLst/>
              <a:defRPr/>
            </a:pP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Improved RIN Range: 6.0 - 10.0</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(Better quality distribution)</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0848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4702302"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1875"/>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RIN Distribution After Filtering</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1765674569752_image.png"/>
          <p:cNvPicPr>
            <a:picLocks noChangeAspect="1"/>
          </p:cNvPicPr>
          <p:nvPr/>
        </p:nvPicPr>
        <p:blipFill>
          <a:blip r:embed="rId3"/>
          <a:stretch>
            <a:fillRect/>
          </a:stretch>
        </p:blipFill>
        <p:spPr>
          <a:xfrm>
            <a:off x="548640" y="1097280"/>
            <a:ext cx="8046720" cy="3840480"/>
          </a:xfrm>
          <a:prstGeom prst="rect">
            <a:avLst/>
          </a:prstGeom>
        </p:spPr>
      </p:pic>
    </p:spTree>
    <p:extLst>
      <p:ext uri="{BB962C8B-B14F-4D97-AF65-F5344CB8AC3E}">
        <p14:creationId xmlns:p14="http://schemas.microsoft.com/office/powerpoint/2010/main" val="1631136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5673852"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1875"/>
              </a:spcAft>
              <a:buClrTx/>
              <a:buSzTx/>
              <a:buFontTx/>
              <a:buNone/>
              <a:tabLst/>
              <a:defRPr/>
            </a:pPr>
            <a:r>
              <a:rPr kumimoji="0" lang="en-US" sz="240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Quantile Normalization: Before &amp; After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1765674582647_image.png"/>
          <p:cNvPicPr>
            <a:picLocks noChangeAspect="1"/>
          </p:cNvPicPr>
          <p:nvPr/>
        </p:nvPicPr>
        <p:blipFill>
          <a:blip r:embed="rId3"/>
          <a:stretch>
            <a:fillRect/>
          </a:stretch>
        </p:blipFill>
        <p:spPr>
          <a:xfrm>
            <a:off x="365760" y="1371600"/>
            <a:ext cx="4023360" cy="3200400"/>
          </a:xfrm>
          <a:prstGeom prst="rect">
            <a:avLst/>
          </a:prstGeom>
        </p:spPr>
      </p:pic>
      <p:pic>
        <p:nvPicPr>
          <p:cNvPr id="4" name="Image 1" descr="1765674590690_image.png"/>
          <p:cNvPicPr>
            <a:picLocks noChangeAspect="1"/>
          </p:cNvPicPr>
          <p:nvPr/>
        </p:nvPicPr>
        <p:blipFill>
          <a:blip r:embed="rId4"/>
          <a:stretch>
            <a:fillRect/>
          </a:stretch>
        </p:blipFill>
        <p:spPr>
          <a:xfrm>
            <a:off x="4754880" y="1371600"/>
            <a:ext cx="4023360" cy="3200400"/>
          </a:xfrm>
          <a:prstGeom prst="rect">
            <a:avLst/>
          </a:prstGeom>
        </p:spPr>
      </p:pic>
    </p:spTree>
    <p:extLst>
      <p:ext uri="{BB962C8B-B14F-4D97-AF65-F5344CB8AC3E}">
        <p14:creationId xmlns:p14="http://schemas.microsoft.com/office/powerpoint/2010/main" val="1844133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4187381"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1875"/>
              </a:spcAft>
              <a:buClrTx/>
              <a:buSzTx/>
              <a:buFontTx/>
              <a:buNone/>
              <a:tabLst/>
              <a:defRPr/>
            </a:pPr>
            <a:r>
              <a:rPr kumimoji="0" lang="en-US" sz="240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3: Filter by Tissue Type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923925"/>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Keep only samples from: </a:t>
            </a:r>
            <a:r>
              <a:rPr kumimoji="0" lang="en-US" sz="1380" b="1"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Artery - Coronary</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38231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6A9955"/>
                </a:solidFill>
                <a:effectLst/>
                <a:uLnTx/>
                <a:uFillTx/>
                <a:latin typeface="Fira Code" pitchFamily="34" charset="0"/>
                <a:ea typeface="Fira Code" pitchFamily="34" charset="-122"/>
                <a:cs typeface="Fira Code" pitchFamily="34" charset="-120"/>
              </a:rPr>
              <a:t># 3. Keep meta-data for chosen tissue (SMTSD)</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84070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tissue_name = </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"Artery - Coronary"</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299097"/>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meta_tissue = meta[meta[</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"SMTSD"</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 == tissue_name]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75748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569CD6"/>
                </a:solidFill>
                <a:effectLst/>
                <a:uLnTx/>
                <a:uFillTx/>
                <a:latin typeface="Fira Code" pitchFamily="34" charset="0"/>
                <a:ea typeface="Fira Code" pitchFamily="34" charset="-122"/>
                <a:cs typeface="Fira Code" pitchFamily="34" charset="-120"/>
              </a:rPr>
              <a:t>print</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"Meta-data for tissue"</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 tissue_name, </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21587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meta_tissue.shape[0], </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"samples"</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3674269"/>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Fira Code" pitchFamily="34" charset="0"/>
                <a:ea typeface="Fira Code" pitchFamily="34" charset="-122"/>
                <a:cs typeface="Fira Code" pitchFamily="34" charset="-120"/>
              </a:rPr>
              <a:t>Result: Meta-data for tissue Artery - Coronary: 253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5168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5256086"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1875"/>
              </a:spcAft>
              <a:buClrTx/>
              <a:buSzTx/>
              <a:buFontTx/>
              <a:buNone/>
              <a:tabLst/>
              <a:defRPr/>
            </a:pPr>
            <a:r>
              <a:rPr kumimoji="0" lang="en-US" sz="240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4: Match with Expression Data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923925"/>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Keep only samples that have gene expression values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38231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6A9955"/>
                </a:solidFill>
                <a:effectLst/>
                <a:uLnTx/>
                <a:uFillTx/>
                <a:latin typeface="Fira Code" pitchFamily="34" charset="0"/>
                <a:ea typeface="Fira Code" pitchFamily="34" charset="-122"/>
                <a:cs typeface="Fira Code" pitchFamily="34" charset="-120"/>
              </a:rPr>
              <a:t># 4. Keep samples with gene-expression values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84070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expr_samples = </a:t>
            </a:r>
            <a:r>
              <a:rPr kumimoji="0" lang="en-US" sz="1380" b="0" i="0" u="none" strike="noStrike" kern="1200" cap="none" spc="0" normalizeH="0" baseline="0" noProof="0" dirty="0">
                <a:ln>
                  <a:noFill/>
                </a:ln>
                <a:solidFill>
                  <a:srgbClr val="569CD6"/>
                </a:solidFill>
                <a:effectLst/>
                <a:uLnTx/>
                <a:uFillTx/>
                <a:latin typeface="Fira Code" pitchFamily="34" charset="0"/>
                <a:ea typeface="Fira Code" pitchFamily="34" charset="-122"/>
                <a:cs typeface="Fira Code" pitchFamily="34" charset="-120"/>
              </a:rPr>
              <a:t>set</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(expr_qn.columns)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299097"/>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meta_tissue_matched = meta_tissue[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75748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meta_tissue[</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"SAMPID"</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].isin(expr_samples)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21587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3674269"/>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569CD6"/>
                </a:solidFill>
                <a:effectLst/>
                <a:uLnTx/>
                <a:uFillTx/>
                <a:latin typeface="Fira Code" pitchFamily="34" charset="0"/>
                <a:ea typeface="Fira Code" pitchFamily="34" charset="-122"/>
                <a:cs typeface="Fira Code" pitchFamily="34" charset="-120"/>
              </a:rPr>
              <a:t>print</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"Samples after matching:"</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 meta_tissue_matched.shape[0])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71500" y="4132659"/>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Fira Code" pitchFamily="34" charset="0"/>
                <a:ea typeface="Fira Code" pitchFamily="34" charset="-122"/>
                <a:cs typeface="Fira Code" pitchFamily="34" charset="-120"/>
              </a:rPr>
              <a:t>Result: Samples after matching: 240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68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5090922" cy="3048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1875"/>
              </a:spcAft>
              <a:buClrTx/>
              <a:buSzTx/>
              <a:buFontTx/>
              <a:buNone/>
              <a:tabLst/>
              <a:defRPr/>
            </a:pPr>
            <a:r>
              <a:rPr kumimoji="0" lang="en-US" sz="240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5: Filter by RIN Quality </a:t>
            </a:r>
            <a:r>
              <a:rPr kumimoji="0" lang="en-US" sz="2400" b="1" i="0" u="none" strike="noStrike" kern="1200" cap="none" spc="0" normalizeH="0" baseline="0" noProof="0">
                <a:ln>
                  <a:noFill/>
                </a:ln>
                <a:solidFill>
                  <a:srgbClr val="6AB0FF"/>
                </a:solidFill>
                <a:effectLst/>
                <a:uLnTx/>
                <a:uFillTx/>
                <a:latin typeface="Arial" pitchFamily="34" charset="0"/>
                <a:ea typeface="Arial" pitchFamily="34" charset="-122"/>
                <a:cs typeface="Arial" pitchFamily="34" charset="-120"/>
              </a:rPr>
              <a:t>(&gt; 6.0)</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923925"/>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Final filtering: keep only high-quality RNA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38231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6A9955"/>
                </a:solidFill>
                <a:effectLst/>
                <a:uLnTx/>
                <a:uFillTx/>
                <a:latin typeface="Fira Code" pitchFamily="34" charset="0"/>
                <a:ea typeface="Fira Code" pitchFamily="34" charset="-122"/>
                <a:cs typeface="Fira Code" pitchFamily="34" charset="-120"/>
              </a:rPr>
              <a:t># 5. Filter samples with RIN </a:t>
            </a:r>
            <a:r>
              <a:rPr kumimoji="0" lang="en-US" sz="1380" b="0" i="0" u="none" strike="noStrike" kern="1200" cap="none" spc="0" normalizeH="0" baseline="0" noProof="0">
                <a:ln>
                  <a:noFill/>
                </a:ln>
                <a:solidFill>
                  <a:srgbClr val="6A9955"/>
                </a:solidFill>
                <a:effectLst/>
                <a:uLnTx/>
                <a:uFillTx/>
                <a:latin typeface="Fira Code" pitchFamily="34" charset="0"/>
                <a:ea typeface="Fira Code" pitchFamily="34" charset="-122"/>
                <a:cs typeface="Fira Code" pitchFamily="34" charset="-120"/>
              </a:rPr>
              <a:t>&gt; 6.0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840706"/>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meta_final = meta_tissue_matched[</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299097"/>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meta_tissue_matched[</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"SMRIN"</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 &gt; </a:t>
            </a:r>
            <a:r>
              <a:rPr kumimoji="0" lang="en-US" sz="1380" b="0" i="0" u="none" strike="noStrike" kern="1200" cap="none" spc="0" normalizeH="0" baseline="0" noProof="0" dirty="0">
                <a:ln>
                  <a:noFill/>
                </a:ln>
                <a:solidFill>
                  <a:srgbClr val="B5CEA8"/>
                </a:solidFill>
                <a:effectLst/>
                <a:uLnTx/>
                <a:uFillTx/>
                <a:latin typeface="Fira Code" pitchFamily="34" charset="0"/>
                <a:ea typeface="Fira Code" pitchFamily="34" charset="-122"/>
                <a:cs typeface="Fira Code" pitchFamily="34" charset="-120"/>
              </a:rPr>
              <a:t>6.0</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75748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569CD6"/>
                </a:solidFill>
                <a:effectLst/>
                <a:uLnTx/>
                <a:uFillTx/>
                <a:latin typeface="Fira Code" pitchFamily="34" charset="0"/>
                <a:ea typeface="Fira Code" pitchFamily="34" charset="-122"/>
                <a:cs typeface="Fira Code" pitchFamily="34" charset="-120"/>
              </a:rPr>
              <a:t>print</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"Samples after filtering:"</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 meta_final.shape[0])</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215878"/>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meta_final.to_csv(out_dir / </a:t>
            </a:r>
            <a:r>
              <a:rPr kumimoji="0" lang="en-US" sz="1380" b="0" i="0" u="none" strike="noStrike" kern="1200" cap="none" spc="0" normalizeH="0" baseline="0" noProof="0" dirty="0">
                <a:ln>
                  <a:noFill/>
                </a:ln>
                <a:solidFill>
                  <a:srgbClr val="CE9178"/>
                </a:solidFill>
                <a:effectLst/>
                <a:uLnTx/>
                <a:uFillTx/>
                <a:latin typeface="Fira Code" pitchFamily="34" charset="0"/>
                <a:ea typeface="Fira Code" pitchFamily="34" charset="-122"/>
                <a:cs typeface="Fira Code" pitchFamily="34" charset="-120"/>
              </a:rPr>
              <a:t>"meta_artery_coronary.csv"</a:t>
            </a:r>
            <a:r>
              <a:rPr kumimoji="0" lang="en-US" sz="1380" b="0" i="0" u="none" strike="noStrike" kern="1200" cap="none" spc="0" normalizeH="0" baseline="0" noProof="0" dirty="0">
                <a:ln>
                  <a:noFill/>
                </a:ln>
                <a:solidFill>
                  <a:srgbClr val="E8EAED"/>
                </a:solidFill>
                <a:effectLst/>
                <a:uLnTx/>
                <a:uFillTx/>
                <a:latin typeface="Fira Code" pitchFamily="34" charset="0"/>
                <a:ea typeface="Fira Code" pitchFamily="34" charset="-122"/>
                <a:cs typeface="Fira Code" pitchFamily="34" charset="-120"/>
              </a:rPr>
              <a:t>)</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71500" y="3674269"/>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1125"/>
              </a:spcBef>
              <a:spcAft>
                <a:spcPts val="1125"/>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Fira Code" pitchFamily="34" charset="0"/>
                <a:ea typeface="Fira Code" pitchFamily="34" charset="-122"/>
                <a:cs typeface="Fira Code" pitchFamily="34" charset="-120"/>
              </a:rPr>
              <a:t>Final Result: 213 high-quality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2847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19125" y="428625"/>
            <a:ext cx="4041648"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625"/>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Pipeline Summary</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19125" y="1112490"/>
            <a:ext cx="4041648"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875"/>
              </a:spcBef>
              <a:spcAft>
                <a:spcPts val="15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Data Processing Steps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19125" y="1573857"/>
            <a:ext cx="8063865" cy="515243"/>
          </a:xfrm>
          <a:prstGeom prst="rect">
            <a:avLst/>
          </a:prstGeom>
          <a:noFill/>
          <a:ln/>
        </p:spPr>
        <p:txBody>
          <a:bodyPr wrap="square" lIns="0" tIns="0" rIns="0" bIns="0" rtlCol="0" anchor="t"/>
          <a:lstStyle/>
          <a:p>
            <a:pPr marL="0" marR="0" lvl="0" indent="0" algn="l" defTabSz="914400" rtl="0" eaLnBrk="1" fontAlgn="auto" latinLnBrk="0" hangingPunct="1">
              <a:lnSpc>
                <a:spcPts val="4056"/>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1. All tissues meta-data → </a:t>
            </a:r>
            <a:r>
              <a:rPr kumimoji="0" lang="en-US" sz="2028"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22,951</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19125" y="2231975"/>
            <a:ext cx="8063865" cy="515243"/>
          </a:xfrm>
          <a:prstGeom prst="rect">
            <a:avLst/>
          </a:prstGeom>
          <a:noFill/>
          <a:ln/>
        </p:spPr>
        <p:txBody>
          <a:bodyPr wrap="square" lIns="0" tIns="0" rIns="0" bIns="0" rtlCol="0" anchor="t"/>
          <a:lstStyle/>
          <a:p>
            <a:pPr marL="0" marR="0" lvl="0" indent="0" algn="l" defTabSz="914400" rtl="0" eaLnBrk="1" fontAlgn="auto" latinLnBrk="0" hangingPunct="1">
              <a:lnSpc>
                <a:spcPts val="4056"/>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2. Artery - Coronary tissue → </a:t>
            </a:r>
            <a:r>
              <a:rPr kumimoji="0" lang="en-US" sz="2028"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253</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19125" y="2890093"/>
            <a:ext cx="8063865" cy="515243"/>
          </a:xfrm>
          <a:prstGeom prst="rect">
            <a:avLst/>
          </a:prstGeom>
          <a:noFill/>
          <a:ln/>
        </p:spPr>
        <p:txBody>
          <a:bodyPr wrap="square" lIns="0" tIns="0" rIns="0" bIns="0" rtlCol="0" anchor="t"/>
          <a:lstStyle/>
          <a:p>
            <a:pPr marL="0" marR="0" lvl="0" indent="0" algn="l" defTabSz="914400" rtl="0" eaLnBrk="1" fontAlgn="auto" latinLnBrk="0" hangingPunct="1">
              <a:lnSpc>
                <a:spcPts val="4056"/>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3. Matched with expression → </a:t>
            </a:r>
            <a:r>
              <a:rPr kumimoji="0" lang="en-US" sz="2028"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240</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19125" y="3548211"/>
            <a:ext cx="8063865" cy="515243"/>
          </a:xfrm>
          <a:prstGeom prst="rect">
            <a:avLst/>
          </a:prstGeom>
          <a:noFill/>
          <a:ln/>
        </p:spPr>
        <p:txBody>
          <a:bodyPr wrap="square" lIns="0" tIns="0" rIns="0" bIns="0" rtlCol="0" anchor="t"/>
          <a:lstStyle/>
          <a:p>
            <a:pPr marL="0" marR="0" lvl="0" indent="0" algn="l" defTabSz="914400" rtl="0" eaLnBrk="1" fontAlgn="auto" latinLnBrk="0" hangingPunct="1">
              <a:lnSpc>
                <a:spcPts val="4056"/>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4. After RIN &gt; 6.0 filtering → </a:t>
            </a:r>
            <a:r>
              <a:rPr kumimoji="0" lang="en-US" sz="2028"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213</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9125" y="4206329"/>
            <a:ext cx="8063865"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Ready for downstream analysis with 213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4351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318552" y="1419820"/>
            <a:ext cx="2506599" cy="487710"/>
          </a:xfrm>
          <a:prstGeom prst="rect">
            <a:avLst/>
          </a:prstGeom>
          <a:noFill/>
          <a:ln/>
        </p:spPr>
        <p:txBody>
          <a:bodyPr wrap="square" lIns="0" tIns="0" rIns="0" bIns="0" rtlCol="0" anchor="t"/>
          <a:lstStyle/>
          <a:p>
            <a:pPr marL="0" marR="0" lvl="0" indent="0" algn="ctr" defTabSz="914400" rtl="0" eaLnBrk="1" fontAlgn="auto" latinLnBrk="0" hangingPunct="1">
              <a:lnSpc>
                <a:spcPts val="3840"/>
              </a:lnSpc>
              <a:spcBef>
                <a:spcPts val="0"/>
              </a:spcBef>
              <a:spcAft>
                <a:spcPts val="2250"/>
              </a:spcAft>
              <a:buClrTx/>
              <a:buSzTx/>
              <a:buFontTx/>
              <a:buNone/>
              <a:tabLst/>
              <a:defRPr/>
            </a:pPr>
            <a:endParaRPr kumimoji="0" lang="en-US" sz="38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3318552" y="2193280"/>
            <a:ext cx="2506599"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Linear Regression</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069046" y="2705546"/>
            <a:ext cx="5005760"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Testing Gene Expression Associations</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069046" y="3408313"/>
            <a:ext cx="5005760" cy="277267"/>
          </a:xfrm>
          <a:prstGeom prst="rect">
            <a:avLst/>
          </a:prstGeom>
          <a:noFill/>
          <a:ln/>
        </p:spPr>
        <p:txBody>
          <a:bodyPr wrap="square" lIns="0" tIns="0" rIns="0" bIns="0" rtlCol="0" anchor="t"/>
          <a:lstStyle/>
          <a:p>
            <a:pPr marL="0" marR="0" lvl="0" indent="0" algn="ctr" defTabSz="914400" rtl="0" eaLnBrk="1" fontAlgn="auto" latinLnBrk="0" hangingPunct="1">
              <a:lnSpc>
                <a:spcPts val="2184"/>
              </a:lnSpc>
              <a:spcBef>
                <a:spcPts val="3000"/>
              </a:spcBef>
              <a:spcAft>
                <a:spcPts val="300"/>
              </a:spcAft>
              <a:buClrTx/>
              <a:buSzTx/>
              <a:buFontTx/>
              <a:buNone/>
              <a:tabLst/>
              <a:defRPr/>
            </a:pPr>
            <a:r>
              <a:rPr kumimoji="0" lang="en-US" sz="1560" b="0" i="0" u="none" strike="noStrike" kern="1200" cap="none" spc="0" normalizeH="0" baseline="0" noProof="0" dirty="0">
                <a:ln>
                  <a:noFill/>
                </a:ln>
                <a:solidFill>
                  <a:srgbClr val="B0B0B0"/>
                </a:solidFill>
                <a:effectLst/>
                <a:uLnTx/>
                <a:uFillTx/>
                <a:latin typeface="Arial" pitchFamily="34" charset="0"/>
                <a:ea typeface="Arial" pitchFamily="34" charset="-122"/>
                <a:cs typeface="Arial" pitchFamily="34" charset="-120"/>
              </a:rPr>
              <a:t>Tissue: Artery - Coronary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0717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Lab Goal</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871538"/>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350"/>
              </a:spcBef>
              <a:spcAft>
                <a:spcPts val="135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Objective: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Test whether gene expression levels are associated with technical and biological traits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266057"/>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350"/>
              </a:spcBef>
              <a:spcAft>
                <a:spcPts val="135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For each selected gene, we will:</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892326"/>
            <a:ext cx="7810500" cy="1733550"/>
          </a:xfrm>
          <a:prstGeom prst="rect">
            <a:avLst/>
          </a:prstGeom>
          <a:noFill/>
          <a:ln/>
        </p:spPr>
        <p:txBody>
          <a:bodyPr wrap="square" lIns="190500" tIns="0" rIns="0" bIns="0" rtlCol="0" anchor="t"/>
          <a:lstStyle/>
          <a:p>
            <a:pPr marL="190500" marR="0" lvl="0" indent="-190500" algn="l" defTabSz="914400" rtl="0" eaLnBrk="1" fontAlgn="auto" latinLnBrk="0" hangingPunct="1">
              <a:lnSpc>
                <a:spcPts val="2100"/>
              </a:lnSpc>
              <a:spcBef>
                <a:spcPts val="0"/>
              </a:spcBef>
              <a:spcAft>
                <a:spcPts val="1125"/>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Plot scatter plots with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linear regression lines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1125"/>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Calculate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Pearson correlation (r)</a:t>
            </a: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and p-values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1125"/>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Identify which traits have the </a:t>
            </a:r>
            <a:r>
              <a:rPr kumimoji="0" lang="en-US" sz="135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strongest influence</a:t>
            </a: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on gene expression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9552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09575"/>
            <a:ext cx="3993071" cy="335310"/>
          </a:xfrm>
          <a:prstGeom prst="rect">
            <a:avLst/>
          </a:prstGeom>
          <a:noFill/>
          <a:ln/>
        </p:spPr>
        <p:txBody>
          <a:bodyPr wrap="square" lIns="0" tIns="0" rIns="0" bIns="0" rtlCol="0" anchor="t"/>
          <a:lstStyle/>
          <a:p>
            <a:pPr marL="0" marR="0" lvl="0" indent="0" algn="l" defTabSz="914400" rtl="0" eaLnBrk="1" fontAlgn="auto" latinLnBrk="0" hangingPunct="1">
              <a:lnSpc>
                <a:spcPts val="2640"/>
              </a:lnSpc>
              <a:spcBef>
                <a:spcPts val="0"/>
              </a:spcBef>
              <a:spcAft>
                <a:spcPts val="1875"/>
              </a:spcAft>
              <a:buClrTx/>
              <a:buSzTx/>
              <a:buFontTx/>
              <a:buNone/>
              <a:tabLst/>
              <a:defRPr/>
            </a:pPr>
            <a:r>
              <a:rPr kumimoji="0" lang="en-US" sz="264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Traits to Test</a:t>
            </a:r>
            <a:endParaRPr kumimoji="0" lang="en-US" sz="26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983010"/>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125"/>
              </a:spcBef>
              <a:spcAft>
                <a:spcPts val="6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Technical Variables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330077"/>
            <a:ext cx="7810500" cy="1638300"/>
          </a:xfrm>
          <a:prstGeom prst="rect">
            <a:avLst/>
          </a:prstGeom>
          <a:noFill/>
          <a:ln/>
        </p:spPr>
        <p:txBody>
          <a:bodyPr wrap="square" lIns="190500" tIns="0" rIns="0" bIns="0" rtlCol="0" anchor="t"/>
          <a:lstStyle/>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SMRIN - RNA quality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SMTSISCH - Ischemic time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SMNABTCH - NA batch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SMGEBTCH - Expression batch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3111252"/>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125"/>
              </a:spcBef>
              <a:spcAft>
                <a:spcPts val="6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Biological Variables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458319"/>
            <a:ext cx="7810500" cy="1219200"/>
          </a:xfrm>
          <a:prstGeom prst="rect">
            <a:avLst/>
          </a:prstGeom>
          <a:noFill/>
          <a:ln/>
        </p:spPr>
        <p:txBody>
          <a:bodyPr wrap="square" lIns="190500" tIns="0" rIns="0" bIns="0" rtlCol="0" anchor="t"/>
          <a:lstStyle/>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AGE - Age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SEX - Sex</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45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DeathType - Death type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5485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324094" cy="731639"/>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1: Selecting Top 5 Genes by Correlation with SMRIN</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541264"/>
            <a:ext cx="7966710"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Selection Method:</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127945"/>
            <a:ext cx="7966710"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For each gene, we computed Pearson correlation (r) between expression and SMRIN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714625"/>
            <a:ext cx="7966710"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Sorted all genes by positive </a:t>
            </a:r>
            <a:r>
              <a:rPr lang="en-US" sz="1560" dirty="0">
                <a:solidFill>
                  <a:srgbClr val="E8EAED"/>
                </a:solidFill>
                <a:latin typeface="Arial" pitchFamily="34" charset="0"/>
                <a:ea typeface="Arial" pitchFamily="34" charset="-122"/>
                <a:cs typeface="Arial" pitchFamily="34" charset="-120"/>
              </a:rPr>
              <a:t>P</a:t>
            </a:r>
            <a:r>
              <a:rPr kumimoji="0" lang="en-US" sz="1560" b="0" i="0" u="none" strike="noStrike" kern="1200" cap="none" spc="0" normalizeH="0" baseline="0" noProof="0" dirty="0" err="1">
                <a:ln>
                  <a:noFill/>
                </a:ln>
                <a:solidFill>
                  <a:srgbClr val="E8EAED"/>
                </a:solidFill>
                <a:effectLst/>
                <a:uLnTx/>
                <a:uFillTx/>
                <a:latin typeface="Arial" pitchFamily="34" charset="0"/>
                <a:ea typeface="Arial" pitchFamily="34" charset="-122"/>
                <a:cs typeface="Arial" pitchFamily="34" charset="-120"/>
              </a:rPr>
              <a:t>earson</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correlation </a:t>
            </a:r>
            <a:r>
              <a:rPr lang="en-US" sz="1560" b="1" dirty="0">
                <a:solidFill>
                  <a:srgbClr val="6AB0FF"/>
                </a:solidFill>
                <a:latin typeface="Arial" pitchFamily="34" charset="0"/>
                <a:ea typeface="Arial" pitchFamily="34" charset="-122"/>
                <a:cs typeface="Arial" pitchFamily="34" charset="-120"/>
              </a:rPr>
              <a:t>r&gt;0</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301305"/>
            <a:ext cx="7966710"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Selected top 5 genes with </a:t>
            </a:r>
            <a:r>
              <a:rPr kumimoji="0" lang="en-US" sz="15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strongest positive linear relationship</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to RNA quality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887986"/>
            <a:ext cx="7966710" cy="792361"/>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Strongest = largest </a:t>
            </a:r>
            <a:r>
              <a:rPr lang="en-US" sz="1560" b="1" dirty="0">
                <a:solidFill>
                  <a:srgbClr val="E8EAED"/>
                </a:solidFill>
                <a:latin typeface="Arial" pitchFamily="34" charset="0"/>
                <a:ea typeface="Arial" pitchFamily="34" charset="-122"/>
                <a:cs typeface="Arial" pitchFamily="34" charset="-120"/>
              </a:rPr>
              <a:t>positive r</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meaning the clearest linear trend between gene expression and SMRIN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0338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6120765"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1875"/>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Top 5 Genes by Correlation with SMRIN</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16BDE736-267F-8E72-2BB0-0567BFC942E0}"/>
              </a:ext>
            </a:extLst>
          </p:cNvPr>
          <p:cNvPicPr>
            <a:picLocks noChangeAspect="1"/>
          </p:cNvPicPr>
          <p:nvPr/>
        </p:nvPicPr>
        <p:blipFill>
          <a:blip r:embed="rId3"/>
          <a:stretch>
            <a:fillRect/>
          </a:stretch>
        </p:blipFill>
        <p:spPr>
          <a:xfrm>
            <a:off x="1516742" y="2022013"/>
            <a:ext cx="5779787" cy="1485364"/>
          </a:xfrm>
          <a:prstGeom prst="rect">
            <a:avLst/>
          </a:prstGeom>
        </p:spPr>
      </p:pic>
    </p:spTree>
    <p:extLst>
      <p:ext uri="{BB962C8B-B14F-4D97-AF65-F5344CB8AC3E}">
        <p14:creationId xmlns:p14="http://schemas.microsoft.com/office/powerpoint/2010/main" val="2077530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003483"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2: Regression Analysis</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Demonstration using one representative gene:</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49338"/>
            <a:ext cx="7966710" cy="299591"/>
          </a:xfrm>
          <a:prstGeom prst="rect">
            <a:avLst/>
          </a:prstGeom>
          <a:noFill/>
          <a:ln/>
        </p:spPr>
        <p:txBody>
          <a:bodyPr wrap="square" lIns="0" tIns="0" rIns="0" bIns="0" rtlCol="0" anchor="t"/>
          <a:lstStyle/>
          <a:p>
            <a:pPr lvl="0">
              <a:lnSpc>
                <a:spcPts val="2360"/>
              </a:lnSpc>
              <a:spcBef>
                <a:spcPts val="1500"/>
              </a:spcBef>
              <a:spcAft>
                <a:spcPts val="1500"/>
              </a:spcAft>
              <a:defRPr/>
            </a:pPr>
            <a:r>
              <a:rPr lang="en-US" sz="1073" b="1" dirty="0">
                <a:solidFill>
                  <a:srgbClr val="34A853"/>
                </a:solidFill>
                <a:latin typeface="monospace" pitchFamily="34" charset="0"/>
                <a:ea typeface="monospace" pitchFamily="34" charset="-122"/>
                <a:cs typeface="monospace" pitchFamily="34" charset="-120"/>
              </a:rPr>
              <a:t>ENSG00000125484.11</a:t>
            </a:r>
            <a:endParaRPr kumimoji="0" lang="en-US" sz="107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339429"/>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We will examine the relationship between this gene's expression and all 7 traits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965698"/>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Each plot shows: scatter plot, regression line, correlation coefficient (r), and p-value</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2043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498277" cy="289620"/>
          </a:xfrm>
          <a:prstGeom prst="rect">
            <a:avLst/>
          </a:prstGeom>
          <a:noFill/>
          <a:ln/>
        </p:spPr>
        <p:txBody>
          <a:bodyPr wrap="square" lIns="0" tIns="0" rIns="0" bIns="0" rtlCol="0" anchor="t"/>
          <a:lstStyle/>
          <a:p>
            <a:pPr lvl="0">
              <a:lnSpc>
                <a:spcPts val="2280"/>
              </a:lnSpc>
              <a:spcAft>
                <a:spcPts val="1125"/>
              </a:spcAft>
              <a:defRPr/>
            </a:pPr>
            <a:r>
              <a:rPr lang="en-US" sz="2280" b="1" dirty="0">
                <a:solidFill>
                  <a:srgbClr val="6AB0FF"/>
                </a:solidFill>
                <a:latin typeface="Arial" pitchFamily="34" charset="0"/>
                <a:ea typeface="Arial" pitchFamily="34" charset="-122"/>
                <a:cs typeface="Arial" pitchFamily="34" charset="-120"/>
              </a:rPr>
              <a:t>ENSG00000125484.11</a:t>
            </a: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 vs SMRIN</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1125"/>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r = 0.467 | p = 5.83e-13</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206698"/>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A637EB0-428C-0573-BE77-692192CF2A6C}"/>
              </a:ext>
            </a:extLst>
          </p:cNvPr>
          <p:cNvPicPr>
            <a:picLocks noChangeAspect="1"/>
          </p:cNvPicPr>
          <p:nvPr/>
        </p:nvPicPr>
        <p:blipFill>
          <a:blip r:embed="rId3"/>
          <a:stretch>
            <a:fillRect/>
          </a:stretch>
        </p:blipFill>
        <p:spPr>
          <a:xfrm>
            <a:off x="1808607" y="1365069"/>
            <a:ext cx="5402090" cy="3601394"/>
          </a:xfrm>
          <a:prstGeom prst="rect">
            <a:avLst/>
          </a:prstGeom>
        </p:spPr>
      </p:pic>
    </p:spTree>
    <p:extLst>
      <p:ext uri="{BB962C8B-B14F-4D97-AF65-F5344CB8AC3E}">
        <p14:creationId xmlns:p14="http://schemas.microsoft.com/office/powerpoint/2010/main" val="392506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7383780" cy="289620"/>
          </a:xfrm>
          <a:prstGeom prst="rect">
            <a:avLst/>
          </a:prstGeom>
          <a:noFill/>
          <a:ln/>
        </p:spPr>
        <p:txBody>
          <a:bodyPr wrap="square" lIns="0" tIns="0" rIns="0" bIns="0" rtlCol="0" anchor="t"/>
          <a:lstStyle/>
          <a:p>
            <a:pPr lvl="0">
              <a:lnSpc>
                <a:spcPts val="2280"/>
              </a:lnSpc>
              <a:spcAft>
                <a:spcPts val="1125"/>
              </a:spcAft>
              <a:defRPr/>
            </a:pPr>
            <a:r>
              <a:rPr lang="en-US" sz="2280" b="1" dirty="0">
                <a:solidFill>
                  <a:srgbClr val="6AB0FF"/>
                </a:solidFill>
                <a:latin typeface="Arial" pitchFamily="34" charset="0"/>
                <a:ea typeface="Arial" pitchFamily="34" charset="-122"/>
                <a:cs typeface="Arial" pitchFamily="34" charset="-120"/>
              </a:rPr>
              <a:t>ENSG00000125484.11</a:t>
            </a: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 vs SMTSISCH (Ischemic Time)</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1125"/>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206698"/>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1A3CB6F9-CDEB-1DF9-9547-43361B15DD08}"/>
              </a:ext>
            </a:extLst>
          </p:cNvPr>
          <p:cNvPicPr>
            <a:picLocks noChangeAspect="1"/>
          </p:cNvPicPr>
          <p:nvPr/>
        </p:nvPicPr>
        <p:blipFill>
          <a:blip r:embed="rId3"/>
          <a:stretch>
            <a:fillRect/>
          </a:stretch>
        </p:blipFill>
        <p:spPr>
          <a:xfrm>
            <a:off x="1829027" y="1152827"/>
            <a:ext cx="5485946" cy="3657298"/>
          </a:xfrm>
          <a:prstGeom prst="rect">
            <a:avLst/>
          </a:prstGeom>
        </p:spPr>
      </p:pic>
    </p:spTree>
    <p:extLst>
      <p:ext uri="{BB962C8B-B14F-4D97-AF65-F5344CB8AC3E}">
        <p14:creationId xmlns:p14="http://schemas.microsoft.com/office/powerpoint/2010/main" val="1229390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5460111" cy="289620"/>
          </a:xfrm>
          <a:prstGeom prst="rect">
            <a:avLst/>
          </a:prstGeom>
          <a:noFill/>
          <a:ln/>
        </p:spPr>
        <p:txBody>
          <a:bodyPr wrap="square" lIns="0" tIns="0" rIns="0" bIns="0" rtlCol="0" anchor="t"/>
          <a:lstStyle/>
          <a:p>
            <a:pPr lvl="0">
              <a:lnSpc>
                <a:spcPts val="2280"/>
              </a:lnSpc>
              <a:spcAft>
                <a:spcPts val="1125"/>
              </a:spcAft>
              <a:defRPr/>
            </a:pPr>
            <a:r>
              <a:rPr lang="en-US" sz="2280" b="1" dirty="0">
                <a:solidFill>
                  <a:srgbClr val="6AB0FF"/>
                </a:solidFill>
                <a:latin typeface="Arial" pitchFamily="34" charset="0"/>
                <a:ea typeface="Arial" pitchFamily="34" charset="-122"/>
                <a:cs typeface="Arial" pitchFamily="34" charset="-120"/>
              </a:rPr>
              <a:t>ENSG00000125484.11</a:t>
            </a: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 vs AGE</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1125"/>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908744"/>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Expression slightly increases with age bins, suggesting modest age-related effect. Effect is smaller than SMRIN or ischemic time (GTEx age is binned for privacy).</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39F50D9-8F60-9FB2-B19D-4F9227F86D63}"/>
              </a:ext>
            </a:extLst>
          </p:cNvPr>
          <p:cNvPicPr>
            <a:picLocks noChangeAspect="1"/>
          </p:cNvPicPr>
          <p:nvPr/>
        </p:nvPicPr>
        <p:blipFill>
          <a:blip r:embed="rId3"/>
          <a:stretch>
            <a:fillRect/>
          </a:stretch>
        </p:blipFill>
        <p:spPr>
          <a:xfrm>
            <a:off x="1887809" y="1647526"/>
            <a:ext cx="5057323" cy="3371549"/>
          </a:xfrm>
          <a:prstGeom prst="rect">
            <a:avLst/>
          </a:prstGeom>
        </p:spPr>
      </p:pic>
    </p:spTree>
    <p:extLst>
      <p:ext uri="{BB962C8B-B14F-4D97-AF65-F5344CB8AC3E}">
        <p14:creationId xmlns:p14="http://schemas.microsoft.com/office/powerpoint/2010/main" val="1021111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7004876" cy="289620"/>
          </a:xfrm>
          <a:prstGeom prst="rect">
            <a:avLst/>
          </a:prstGeom>
          <a:noFill/>
          <a:ln/>
        </p:spPr>
        <p:txBody>
          <a:bodyPr wrap="square" lIns="0" tIns="0" rIns="0" bIns="0" rtlCol="0" anchor="t"/>
          <a:lstStyle/>
          <a:p>
            <a:pPr lvl="0">
              <a:lnSpc>
                <a:spcPts val="2280"/>
              </a:lnSpc>
              <a:spcAft>
                <a:spcPts val="1125"/>
              </a:spcAft>
              <a:defRPr/>
            </a:pPr>
            <a:r>
              <a:rPr lang="en-US" sz="2280" b="1" dirty="0">
                <a:solidFill>
                  <a:srgbClr val="6AB0FF"/>
                </a:solidFill>
                <a:latin typeface="Arial" pitchFamily="34" charset="0"/>
                <a:ea typeface="Arial" pitchFamily="34" charset="-122"/>
                <a:cs typeface="Arial" pitchFamily="34" charset="-120"/>
              </a:rPr>
              <a:t>ENSG00000125484.11</a:t>
            </a: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 vs DeathType (Hardy Scale)</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394335" y="705487"/>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1125"/>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003441"/>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Expression differs across death categories, indicating death circumstances can influence expression patterns. DTHHRDY is based on the Hardy scale classification system.</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F8F216D6-55FB-EC8A-3CF8-52C22D6E1B34}"/>
              </a:ext>
            </a:extLst>
          </p:cNvPr>
          <p:cNvPicPr>
            <a:picLocks noChangeAspect="1"/>
          </p:cNvPicPr>
          <p:nvPr/>
        </p:nvPicPr>
        <p:blipFill>
          <a:blip r:embed="rId3"/>
          <a:stretch>
            <a:fillRect/>
          </a:stretch>
        </p:blipFill>
        <p:spPr>
          <a:xfrm>
            <a:off x="2464483" y="1730830"/>
            <a:ext cx="5119003" cy="3412670"/>
          </a:xfrm>
          <a:prstGeom prst="rect">
            <a:avLst/>
          </a:prstGeom>
        </p:spPr>
      </p:pic>
    </p:spTree>
    <p:extLst>
      <p:ext uri="{BB962C8B-B14F-4D97-AF65-F5344CB8AC3E}">
        <p14:creationId xmlns:p14="http://schemas.microsoft.com/office/powerpoint/2010/main" val="1679892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187381" cy="289620"/>
          </a:xfrm>
          <a:prstGeom prst="rect">
            <a:avLst/>
          </a:prstGeom>
          <a:noFill/>
          <a:ln/>
        </p:spPr>
        <p:txBody>
          <a:bodyPr wrap="square" lIns="0" tIns="0" rIns="0" bIns="0" rtlCol="0" anchor="t"/>
          <a:lstStyle/>
          <a:p>
            <a:pPr lvl="0">
              <a:lnSpc>
                <a:spcPts val="2280"/>
              </a:lnSpc>
              <a:spcAft>
                <a:spcPts val="1125"/>
              </a:spcAft>
              <a:defRPr/>
            </a:pPr>
            <a:r>
              <a:rPr lang="en-US" sz="2280" dirty="0">
                <a:solidFill>
                  <a:srgbClr val="6AB0FF"/>
                </a:solidFill>
                <a:latin typeface="Arial" pitchFamily="34" charset="0"/>
                <a:ea typeface="Arial" pitchFamily="34" charset="-122"/>
                <a:cs typeface="Arial" pitchFamily="34" charset="-120"/>
              </a:rPr>
              <a:t>ENSG00000125484.11</a:t>
            </a: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 vs SEX</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1125"/>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019384"/>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Minimal difference between sexes with strong overlap between groups. Gene is likely regulated similarly in males and females in coronary artery tissue.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71BA823E-18D3-F2E3-8D9B-380DEC2EDCFF}"/>
              </a:ext>
            </a:extLst>
          </p:cNvPr>
          <p:cNvPicPr>
            <a:picLocks noChangeAspect="1"/>
          </p:cNvPicPr>
          <p:nvPr/>
        </p:nvPicPr>
        <p:blipFill>
          <a:blip r:embed="rId3"/>
          <a:stretch>
            <a:fillRect/>
          </a:stretch>
        </p:blipFill>
        <p:spPr>
          <a:xfrm>
            <a:off x="1900873" y="1670411"/>
            <a:ext cx="4917939" cy="3278627"/>
          </a:xfrm>
          <a:prstGeom prst="rect">
            <a:avLst/>
          </a:prstGeom>
        </p:spPr>
      </p:pic>
    </p:spTree>
    <p:extLst>
      <p:ext uri="{BB962C8B-B14F-4D97-AF65-F5344CB8AC3E}">
        <p14:creationId xmlns:p14="http://schemas.microsoft.com/office/powerpoint/2010/main" val="4014475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372136" y="1419820"/>
            <a:ext cx="2399728" cy="487710"/>
          </a:xfrm>
          <a:prstGeom prst="rect">
            <a:avLst/>
          </a:prstGeom>
          <a:noFill/>
          <a:ln/>
        </p:spPr>
        <p:txBody>
          <a:bodyPr wrap="square" lIns="0" tIns="0" rIns="0" bIns="0" rtlCol="0" anchor="t"/>
          <a:lstStyle/>
          <a:p>
            <a:pPr marL="0" marR="0" lvl="0" indent="0" algn="ctr" defTabSz="914400" rtl="0" eaLnBrk="1" fontAlgn="auto" latinLnBrk="0" hangingPunct="1">
              <a:lnSpc>
                <a:spcPts val="3840"/>
              </a:lnSpc>
              <a:spcBef>
                <a:spcPts val="0"/>
              </a:spcBef>
              <a:spcAft>
                <a:spcPts val="2250"/>
              </a:spcAft>
              <a:buClrTx/>
              <a:buSzTx/>
              <a:buFontTx/>
              <a:buNone/>
              <a:tabLst/>
              <a:defRPr/>
            </a:pPr>
            <a:endParaRPr kumimoji="0" lang="en-US" sz="38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2176067" y="2193280"/>
            <a:ext cx="4791867"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Principal Component Analysis (PCA)</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905792" y="2705546"/>
            <a:ext cx="3332416"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Dimensionality Reduction</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176067" y="3408313"/>
            <a:ext cx="4791867" cy="277267"/>
          </a:xfrm>
          <a:prstGeom prst="rect">
            <a:avLst/>
          </a:prstGeom>
          <a:noFill/>
          <a:ln/>
        </p:spPr>
        <p:txBody>
          <a:bodyPr wrap="square" lIns="0" tIns="0" rIns="0" bIns="0" rtlCol="0" anchor="t"/>
          <a:lstStyle/>
          <a:p>
            <a:pPr marL="0" marR="0" lvl="0" indent="0" algn="ctr" defTabSz="914400" rtl="0" eaLnBrk="1" fontAlgn="auto" latinLnBrk="0" hangingPunct="1">
              <a:lnSpc>
                <a:spcPts val="2184"/>
              </a:lnSpc>
              <a:spcBef>
                <a:spcPts val="3000"/>
              </a:spcBef>
              <a:spcAft>
                <a:spcPts val="300"/>
              </a:spcAft>
              <a:buClrTx/>
              <a:buSzTx/>
              <a:buFontTx/>
              <a:buNone/>
              <a:tabLst/>
              <a:defRPr/>
            </a:pPr>
            <a:r>
              <a:rPr kumimoji="0" lang="en-US" sz="1560" b="0" i="0" u="none" strike="noStrike" kern="1200" cap="none" spc="0" normalizeH="0" baseline="0" noProof="0" dirty="0">
                <a:ln>
                  <a:noFill/>
                </a:ln>
                <a:solidFill>
                  <a:srgbClr val="B0B0B0"/>
                </a:solidFill>
                <a:effectLst/>
                <a:uLnTx/>
                <a:uFillTx/>
                <a:latin typeface="Arial" pitchFamily="34" charset="0"/>
                <a:ea typeface="Arial" pitchFamily="34" charset="-122"/>
                <a:cs typeface="Arial" pitchFamily="34" charset="-120"/>
              </a:rPr>
              <a:t>Tissue: Artery - Coronary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173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Goal of the Lab</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871538"/>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Use </a:t>
            </a:r>
            <a:r>
              <a:rPr kumimoji="0" lang="en-US" sz="15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PCA (Principal Component Analysis)</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to reduce high-dimensional gene expression data (thousands of genes) into a small number of components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285107"/>
            <a:ext cx="7966710" cy="871538"/>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PCA helps us visualize patterns, detect clusters/outliers, and check whether technical variables dominate the variation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3347145"/>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Standard method for exploratory analysis of gene expression data</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391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6344221"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1500"/>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1: Data Loading &amp; Sample Matching</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891480"/>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900"/>
              </a:spcBef>
              <a:spcAft>
                <a:spcPts val="900"/>
              </a:spcAft>
              <a:buClrTx/>
              <a:buSzTx/>
              <a:buFontTx/>
              <a:buNone/>
              <a:tabLst/>
              <a:defRPr/>
            </a:pP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Key steps in the code: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321296"/>
            <a:ext cx="8001000" cy="1333500"/>
          </a:xfrm>
          <a:prstGeom prst="rect">
            <a:avLst/>
          </a:prstGeom>
          <a:noFill/>
          <a:ln/>
        </p:spPr>
        <p:txBody>
          <a:bodyPr wrap="square" lIns="190500" tIns="0" rIns="0" bIns="0" rtlCol="0" anchor="t"/>
          <a:lstStyle/>
          <a:p>
            <a:pPr marL="190500" marR="0" lvl="0" indent="-190500" algn="l" defTabSz="914400" rtl="0" eaLnBrk="1" fontAlgn="auto" latinLnBrk="0" hangingPunct="1">
              <a:lnSpc>
                <a:spcPts val="2100"/>
              </a:lnSpc>
              <a:spcBef>
                <a:spcPts val="0"/>
              </a:spcBef>
              <a:spcAft>
                <a:spcPts val="60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Load expression matrix and metadata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60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Find intersection of sample IDs in both datasets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90500" marR="0" lvl="0" indent="-190500" algn="l" defTabSz="914400" rtl="0" eaLnBrk="1" fontAlgn="auto" latinLnBrk="0" hangingPunct="1">
              <a:lnSpc>
                <a:spcPts val="2100"/>
              </a:lnSpc>
              <a:spcBef>
                <a:spcPts val="0"/>
              </a:spcBef>
              <a:spcAft>
                <a:spcPts val="600"/>
              </a:spcAft>
              <a:buClrTx/>
              <a:buSzPct val="100000"/>
              <a:buFontTx/>
              <a:buChar char="•"/>
              <a:tabLst/>
              <a:defRPr/>
            </a:pPr>
            <a:r>
              <a:rPr kumimoji="0" lang="en-US" sz="135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Reorder to ensure alignment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2769096"/>
            <a:ext cx="8161020" cy="631031"/>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900"/>
              </a:spcBef>
              <a:spcAft>
                <a:spcPts val="900"/>
              </a:spcAft>
              <a:buClrTx/>
              <a:buSzTx/>
              <a:buFontTx/>
              <a:buNone/>
              <a:tabLst/>
              <a:defRPr/>
            </a:pP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Why necessary:</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PCA results are only meaningful if each sample's expression profile is correctly paired with its metadata</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3514427"/>
            <a:ext cx="8161020" cy="315516"/>
          </a:xfrm>
          <a:prstGeom prst="rect">
            <a:avLst/>
          </a:prstGeom>
          <a:noFill/>
          <a:ln/>
        </p:spPr>
        <p:txBody>
          <a:bodyPr wrap="square" lIns="0" tIns="0" rIns="0" bIns="0" rtlCol="0" anchor="t"/>
          <a:lstStyle/>
          <a:p>
            <a:pPr marL="0" marR="0" lvl="0" indent="0" algn="l" defTabSz="914400" rtl="0" eaLnBrk="1" fontAlgn="auto" latinLnBrk="0" hangingPunct="1">
              <a:lnSpc>
                <a:spcPts val="2484"/>
              </a:lnSpc>
              <a:spcBef>
                <a:spcPts val="900"/>
              </a:spcBef>
              <a:spcAft>
                <a:spcPts val="900"/>
              </a:spcAft>
              <a:buClrTx/>
              <a:buSzTx/>
              <a:buFontTx/>
              <a:buNone/>
              <a:tabLst/>
              <a:defRPr/>
            </a:pPr>
            <a:r>
              <a:rPr kumimoji="0" lang="en-US" sz="138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Result:</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Expression (17,309 genes × 213 samples) | Metadata (213 samples × 62 traits)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5413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362956"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1 Result: After Alignment</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2250"/>
              </a:spcBef>
              <a:spcAft>
                <a:spcPts val="15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Data Shapes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684437"/>
            <a:ext cx="7966710" cy="426839"/>
          </a:xfrm>
          <a:prstGeom prst="rect">
            <a:avLst/>
          </a:prstGeom>
          <a:noFill/>
          <a:ln/>
        </p:spPr>
        <p:txBody>
          <a:bodyPr wrap="square" lIns="0" tIns="0" rIns="0" bIns="0" rtlCol="0" anchor="t"/>
          <a:lstStyle/>
          <a:p>
            <a:pPr marL="0" marR="0" lvl="0" indent="0" algn="l" defTabSz="914400" rtl="0" eaLnBrk="1" fontAlgn="auto" latinLnBrk="0" hangingPunct="1">
              <a:lnSpc>
                <a:spcPts val="3360"/>
              </a:lnSpc>
              <a:spcBef>
                <a:spcPts val="1125"/>
              </a:spcBef>
              <a:spcAft>
                <a:spcPts val="1125"/>
              </a:spcAft>
              <a:buClrTx/>
              <a:buSzTx/>
              <a:buFontTx/>
              <a:buNone/>
              <a:tabLst/>
              <a:defRPr/>
            </a:pPr>
            <a:r>
              <a:rPr kumimoji="0" lang="en-US" sz="16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Expression: (17,309 genes × 213 samples)</a:t>
            </a:r>
            <a:endParaRPr kumimoji="0" lang="en-US" sz="1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254151"/>
            <a:ext cx="7966710" cy="426839"/>
          </a:xfrm>
          <a:prstGeom prst="rect">
            <a:avLst/>
          </a:prstGeom>
          <a:noFill/>
          <a:ln/>
        </p:spPr>
        <p:txBody>
          <a:bodyPr wrap="square" lIns="0" tIns="0" rIns="0" bIns="0" rtlCol="0" anchor="t"/>
          <a:lstStyle/>
          <a:p>
            <a:pPr marL="0" marR="0" lvl="0" indent="0" algn="l" defTabSz="914400" rtl="0" eaLnBrk="1" fontAlgn="auto" latinLnBrk="0" hangingPunct="1">
              <a:lnSpc>
                <a:spcPts val="3360"/>
              </a:lnSpc>
              <a:spcBef>
                <a:spcPts val="1125"/>
              </a:spcBef>
              <a:spcAft>
                <a:spcPts val="1125"/>
              </a:spcAft>
              <a:buClrTx/>
              <a:buSzTx/>
              <a:buFontTx/>
              <a:buNone/>
              <a:tabLst/>
              <a:defRPr/>
            </a:pPr>
            <a:r>
              <a:rPr kumimoji="0" lang="en-US" sz="16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Metadata: (213 samples × 62 traits)</a:t>
            </a:r>
            <a:endParaRPr kumimoji="0" lang="en-US" sz="1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966740"/>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2250"/>
              </a:spcBef>
              <a:spcAft>
                <a:spcPts val="15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Matrix for PCA</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428107"/>
            <a:ext cx="7966710" cy="426839"/>
          </a:xfrm>
          <a:prstGeom prst="rect">
            <a:avLst/>
          </a:prstGeom>
          <a:noFill/>
          <a:ln/>
        </p:spPr>
        <p:txBody>
          <a:bodyPr wrap="square" lIns="0" tIns="0" rIns="0" bIns="0" rtlCol="0" anchor="t"/>
          <a:lstStyle/>
          <a:p>
            <a:pPr marL="0" marR="0" lvl="0" indent="0" algn="l" defTabSz="914400" rtl="0" eaLnBrk="1" fontAlgn="auto" latinLnBrk="0" hangingPunct="1">
              <a:lnSpc>
                <a:spcPts val="3360"/>
              </a:lnSpc>
              <a:spcBef>
                <a:spcPts val="1125"/>
              </a:spcBef>
              <a:spcAft>
                <a:spcPts val="1125"/>
              </a:spcAft>
              <a:buClrTx/>
              <a:buSzTx/>
              <a:buFontTx/>
              <a:buNone/>
              <a:tabLst/>
              <a:defRPr/>
            </a:pPr>
            <a:r>
              <a:rPr kumimoji="0" lang="en-US" sz="16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(213 samples × 17,309 genes)</a:t>
            </a:r>
            <a:endParaRPr kumimoji="0" lang="en-US" sz="1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6750" y="3997821"/>
            <a:ext cx="7966710"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PCA is performed on 213 Artery-Coronary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7820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527423"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2: PCA Computation</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What PCA computes: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49338"/>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PC1</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captures the largest variance direction across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475607"/>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PC2</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captures the second largest variance direction (orthogonal to PC1)</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101876"/>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Each sample gets a PC score (coordinates) on each PC</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728145"/>
            <a:ext cx="7966710" cy="435769"/>
          </a:xfrm>
          <a:prstGeom prst="rect">
            <a:avLst/>
          </a:prstGeom>
          <a:noFill/>
          <a:ln/>
        </p:spPr>
        <p:txBody>
          <a:bodyPr wrap="square" lIns="0" tIns="0" rIns="0" bIns="0" rtlCol="0" anchor="t"/>
          <a:lstStyle/>
          <a:p>
            <a:pPr marL="0" marR="0" lvl="0" indent="0" algn="l" defTabSz="914400" rtl="0" eaLnBrk="1" fontAlgn="auto" latinLnBrk="0" hangingPunct="1">
              <a:lnSpc>
                <a:spcPts val="3432"/>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 PCA score matrix for plotting (samples × PCs) is produced and saved</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7656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57200"/>
            <a:ext cx="5790438"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25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3: Explained Variance Ratio</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08770"/>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PC1: 15.00%</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Strongest global pattern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627882"/>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PC2: 10.36%</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Second strongest independent pattern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146995"/>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PC3: 7.29%</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666107"/>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PC4: 4.42%</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185220"/>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PC5: 2.78%</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6750" y="3847207"/>
            <a:ext cx="7966710" cy="318343"/>
          </a:xfrm>
          <a:prstGeom prst="rect">
            <a:avLst/>
          </a:prstGeom>
          <a:noFill/>
          <a:ln/>
        </p:spPr>
        <p:txBody>
          <a:bodyPr wrap="square" lIns="0" tIns="0" rIns="0" bIns="0" rtlCol="0" anchor="t"/>
          <a:lstStyle/>
          <a:p>
            <a:pPr marL="0" marR="0" lvl="0" indent="0" algn="l" defTabSz="914400" rtl="0" eaLnBrk="1" fontAlgn="auto" latinLnBrk="0" hangingPunct="1">
              <a:lnSpc>
                <a:spcPts val="2508"/>
              </a:lnSpc>
              <a:spcBef>
                <a:spcPts val="2250"/>
              </a:spcBef>
              <a:spcAft>
                <a:spcPts val="1125"/>
              </a:spcAft>
              <a:buClrTx/>
              <a:buSzTx/>
              <a:buFontTx/>
              <a:buNone/>
              <a:tabLst/>
              <a:defRPr/>
            </a:pPr>
            <a:r>
              <a:rPr kumimoji="0" lang="en-US" sz="132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Total variance explained by first 5 PCs: ~39.85%</a:t>
            </a:r>
            <a:endParaRPr kumimoji="0" lang="en-US" sz="13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66750" y="4308425"/>
            <a:ext cx="7966710" cy="376238"/>
          </a:xfrm>
          <a:prstGeom prst="rect">
            <a:avLst/>
          </a:prstGeom>
          <a:noFill/>
          <a:ln/>
        </p:spPr>
        <p:txBody>
          <a:bodyPr wrap="square" lIns="0" tIns="0" rIns="0" bIns="0" rtlCol="0" anchor="t"/>
          <a:lstStyle/>
          <a:p>
            <a:pPr marL="0" marR="0" lvl="0" indent="0" algn="l" defTabSz="914400" rtl="0" eaLnBrk="1" fontAlgn="auto" latinLnBrk="0" hangingPunct="1">
              <a:lnSpc>
                <a:spcPts val="2964"/>
              </a:lnSpc>
              <a:spcBef>
                <a:spcPts val="1125"/>
              </a:spcBef>
              <a:spcAft>
                <a:spcPts val="1125"/>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First five PCs reduce thousands of genes into key axes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433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5304663"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Step 4: PC1 vs PC2 Plot (All Samples)</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893862"/>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Each dot is one Artery-Coronary sample positioned by PC1 (x-axis) and PC2 (y-axis) scores. Points form a broad cloud without clear separated clusters, suggesting variation is influenced by many subtle factors rather than one dominant variable.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lab5_pc1pc2.png"/>
          <p:cNvPicPr>
            <a:picLocks noChangeAspect="1"/>
          </p:cNvPicPr>
          <p:nvPr/>
        </p:nvPicPr>
        <p:blipFill>
          <a:blip r:embed="rId3"/>
          <a:stretch>
            <a:fillRect/>
          </a:stretch>
        </p:blipFill>
        <p:spPr>
          <a:xfrm>
            <a:off x="1371600" y="1828800"/>
            <a:ext cx="6400800" cy="2743200"/>
          </a:xfrm>
          <a:prstGeom prst="rect">
            <a:avLst/>
          </a:prstGeom>
        </p:spPr>
      </p:pic>
    </p:spTree>
    <p:extLst>
      <p:ext uri="{BB962C8B-B14F-4D97-AF65-F5344CB8AC3E}">
        <p14:creationId xmlns:p14="http://schemas.microsoft.com/office/powerpoint/2010/main" val="2792451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303967"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PC1 vs PC2 Colored by SMRIN</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Colors are mixed across PCA space with no strong gradient or clear separation. SMRIN does not strongly drive PC1 or PC2 in this filtered dataset, meaning it's not the main source of variance.</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lab5_smrin.png"/>
          <p:cNvPicPr>
            <a:picLocks noChangeAspect="1"/>
          </p:cNvPicPr>
          <p:nvPr/>
        </p:nvPicPr>
        <p:blipFill>
          <a:blip r:embed="rId3"/>
          <a:stretch>
            <a:fillRect/>
          </a:stretch>
        </p:blipFill>
        <p:spPr>
          <a:xfrm>
            <a:off x="1371600" y="1828800"/>
            <a:ext cx="6400800" cy="2743200"/>
          </a:xfrm>
          <a:prstGeom prst="rect">
            <a:avLst/>
          </a:prstGeom>
        </p:spPr>
      </p:pic>
    </p:spTree>
    <p:extLst>
      <p:ext uri="{BB962C8B-B14F-4D97-AF65-F5344CB8AC3E}">
        <p14:creationId xmlns:p14="http://schemas.microsoft.com/office/powerpoint/2010/main" val="4119191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7189470"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PC1 vs PC2 Colored by SMTSISCH (Ischemic Time)</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893862"/>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Values are scattered throughout without clear clustering or smooth gradient. Ischemic time is not a dominant driver of the top two principal components. Any influence is likely weaker or captured in higher PCs.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lab5_ischemic.png"/>
          <p:cNvPicPr>
            <a:picLocks noChangeAspect="1"/>
          </p:cNvPicPr>
          <p:nvPr/>
        </p:nvPicPr>
        <p:blipFill>
          <a:blip r:embed="rId3"/>
          <a:stretch>
            <a:fillRect/>
          </a:stretch>
        </p:blipFill>
        <p:spPr>
          <a:xfrm>
            <a:off x="1371600" y="1828800"/>
            <a:ext cx="6400800" cy="2743200"/>
          </a:xfrm>
          <a:prstGeom prst="rect">
            <a:avLst/>
          </a:prstGeom>
        </p:spPr>
      </p:pic>
    </p:spTree>
    <p:extLst>
      <p:ext uri="{BB962C8B-B14F-4D97-AF65-F5344CB8AC3E}">
        <p14:creationId xmlns:p14="http://schemas.microsoft.com/office/powerpoint/2010/main" val="1978202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6499670" cy="335310"/>
          </a:xfrm>
          <a:prstGeom prst="rect">
            <a:avLst/>
          </a:prstGeom>
          <a:noFill/>
          <a:ln/>
        </p:spPr>
        <p:txBody>
          <a:bodyPr wrap="square" lIns="0" tIns="0" rIns="0" bIns="0" rtlCol="0" anchor="t"/>
          <a:lstStyle/>
          <a:p>
            <a:pPr marL="0" marR="0" lvl="0" indent="0" algn="l" defTabSz="914400" rtl="0" eaLnBrk="1" fontAlgn="auto" latinLnBrk="0" hangingPunct="1">
              <a:lnSpc>
                <a:spcPts val="2640"/>
              </a:lnSpc>
              <a:spcBef>
                <a:spcPts val="0"/>
              </a:spcBef>
              <a:spcAft>
                <a:spcPts val="2625"/>
              </a:spcAft>
              <a:buClrTx/>
              <a:buSzTx/>
              <a:buFontTx/>
              <a:buNone/>
              <a:tabLst/>
              <a:defRPr/>
            </a:pPr>
            <a:r>
              <a:rPr kumimoji="0" lang="en-US" sz="264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Ischemic Time: Biological Interpretation</a:t>
            </a:r>
            <a:endParaRPr kumimoji="0" lang="en-US" sz="26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44935"/>
            <a:ext cx="7966710" cy="762000"/>
          </a:xfrm>
          <a:prstGeom prst="rect">
            <a:avLst/>
          </a:prstGeom>
          <a:noFill/>
          <a:ln/>
        </p:spPr>
        <p:txBody>
          <a:bodyPr wrap="square" lIns="0" tIns="0" rIns="0" bIns="0" rtlCol="0" anchor="t"/>
          <a:lstStyle/>
          <a:p>
            <a:pPr marL="0" marR="0" lvl="0" indent="0" algn="l" defTabSz="914400" rtl="0" eaLnBrk="1" fontAlgn="auto" latinLnBrk="0" hangingPunct="1">
              <a:lnSpc>
                <a:spcPts val="3000"/>
              </a:lnSpc>
              <a:spcBef>
                <a:spcPts val="1500"/>
              </a:spcBef>
              <a:spcAft>
                <a:spcPts val="15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Ischemic time shows a </a:t>
            </a:r>
            <a:r>
              <a:rPr kumimoji="0" lang="en-US" sz="150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mild directional effect</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in PCA space: samples with longer ischemic time tend to project to lower PC1/PC2 values.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097435"/>
            <a:ext cx="7966710" cy="762000"/>
          </a:xfrm>
          <a:prstGeom prst="rect">
            <a:avLst/>
          </a:prstGeom>
          <a:noFill/>
          <a:ln/>
        </p:spPr>
        <p:txBody>
          <a:bodyPr wrap="square" lIns="0" tIns="0" rIns="0" bIns="0" rtlCol="0" anchor="t"/>
          <a:lstStyle/>
          <a:p>
            <a:pPr marL="0" marR="0" lvl="0" indent="0" algn="l" defTabSz="914400" rtl="0" eaLnBrk="1" fontAlgn="auto" latinLnBrk="0" hangingPunct="1">
              <a:lnSpc>
                <a:spcPts val="3000"/>
              </a:lnSpc>
              <a:spcBef>
                <a:spcPts val="1500"/>
              </a:spcBef>
              <a:spcAft>
                <a:spcPts val="1500"/>
              </a:spcAft>
              <a:buClrTx/>
              <a:buSzTx/>
              <a:buFontTx/>
              <a:buNone/>
              <a:tabLst/>
              <a:defRPr/>
            </a:pPr>
            <a:r>
              <a:rPr kumimoji="0" lang="en-US" sz="1500" b="1" i="0" u="none" strike="noStrike" kern="1200" cap="none" spc="0" normalizeH="0" baseline="0" noProof="0" dirty="0">
                <a:ln>
                  <a:noFill/>
                </a:ln>
                <a:solidFill>
                  <a:srgbClr val="6BCF7F"/>
                </a:solidFill>
                <a:effectLst/>
                <a:uLnTx/>
                <a:uFillTx/>
                <a:latin typeface="Arial" pitchFamily="34" charset="0"/>
                <a:ea typeface="Arial" pitchFamily="34" charset="-122"/>
                <a:cs typeface="Arial" pitchFamily="34" charset="-120"/>
              </a:rPr>
              <a:t>Biologically:</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Prolonged ischemia induces RNA degradation and stress-related transcriptional changes in coronary artery tissue, subtly shifting global expression profiles.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3049935"/>
            <a:ext cx="7966710" cy="762000"/>
          </a:xfrm>
          <a:prstGeom prst="rect">
            <a:avLst/>
          </a:prstGeom>
          <a:noFill/>
          <a:ln/>
        </p:spPr>
        <p:txBody>
          <a:bodyPr wrap="square" lIns="0" tIns="0" rIns="0" bIns="0" rtlCol="0" anchor="t"/>
          <a:lstStyle/>
          <a:p>
            <a:pPr marL="0" marR="0" lvl="0" indent="0" algn="l" defTabSz="914400" rtl="0" eaLnBrk="1" fontAlgn="auto" latinLnBrk="0" hangingPunct="1">
              <a:lnSpc>
                <a:spcPts val="3000"/>
              </a:lnSpc>
              <a:spcBef>
                <a:spcPts val="1500"/>
              </a:spcBef>
              <a:spcAft>
                <a:spcPts val="15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However, the effect is </a:t>
            </a:r>
            <a:r>
              <a:rPr kumimoji="0" lang="en-US" sz="150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gradual and does not form distinct clusters</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indicating that ischemic time does not dominate overall gene-expression variance.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334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19125" y="428625"/>
            <a:ext cx="4041648"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625"/>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Conclusion</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19125" y="1112490"/>
            <a:ext cx="8063865"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350"/>
              </a:spcBef>
              <a:spcAft>
                <a:spcPts val="1350"/>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PC1 explains 15%</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of variance, </a:t>
            </a: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PC2 explains 10.36%</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19125" y="1680121"/>
            <a:ext cx="8063865"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350"/>
              </a:spcBef>
              <a:spcAft>
                <a:spcPts val="1350"/>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PC1-PC5 explain ~39.85%</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of total variance</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19125" y="2247751"/>
            <a:ext cx="8063865"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350"/>
              </a:spcBef>
              <a:spcAft>
                <a:spcPts val="135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PC1-PC2 scatter shows no strong clustering among coronary artery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19125" y="2815382"/>
            <a:ext cx="8063865" cy="396180"/>
          </a:xfrm>
          <a:prstGeom prst="rect">
            <a:avLst/>
          </a:prstGeom>
          <a:noFill/>
          <a:ln/>
        </p:spPr>
        <p:txBody>
          <a:bodyPr wrap="square" lIns="0" tIns="0" rIns="0" bIns="0" rtlCol="0" anchor="t"/>
          <a:lstStyle/>
          <a:p>
            <a:pPr marL="0" marR="0" lvl="0" indent="0" algn="l" defTabSz="914400" rtl="0" eaLnBrk="1" fontAlgn="auto" latinLnBrk="0" hangingPunct="1">
              <a:lnSpc>
                <a:spcPts val="3120"/>
              </a:lnSpc>
              <a:spcBef>
                <a:spcPts val="1350"/>
              </a:spcBef>
              <a:spcAft>
                <a:spcPts val="135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Coloring by SMRIN, SMTSISCH, SMNABTCH, SMGEBTCH shows no clear separation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19125" y="3497312"/>
            <a:ext cx="8063865" cy="731639"/>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2250"/>
              </a:spcBef>
              <a:spcAft>
                <a:spcPts val="1350"/>
              </a:spcAft>
              <a:buClrTx/>
              <a:buSzTx/>
              <a:buFontTx/>
              <a:buNone/>
              <a:tabLst/>
              <a:defRPr/>
            </a:pPr>
            <a:r>
              <a:rPr kumimoji="0" lang="en-US" sz="144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Gene expression variation in Artery-Coronary tissue is distributed across multiple factors, not driven by a single technical confounder</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8230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39163" y="1419820"/>
            <a:ext cx="1865376" cy="487710"/>
          </a:xfrm>
          <a:prstGeom prst="rect">
            <a:avLst/>
          </a:prstGeom>
          <a:noFill/>
          <a:ln/>
        </p:spPr>
        <p:txBody>
          <a:bodyPr wrap="square" lIns="0" tIns="0" rIns="0" bIns="0" rtlCol="0" anchor="t"/>
          <a:lstStyle/>
          <a:p>
            <a:pPr marL="0" marR="0" lvl="0" indent="0" algn="ctr" defTabSz="914400" rtl="0" eaLnBrk="1" fontAlgn="auto" latinLnBrk="0" hangingPunct="1">
              <a:lnSpc>
                <a:spcPts val="3840"/>
              </a:lnSpc>
              <a:spcBef>
                <a:spcPts val="0"/>
              </a:spcBef>
              <a:spcAft>
                <a:spcPts val="2250"/>
              </a:spcAft>
              <a:buClrTx/>
              <a:buSzTx/>
              <a:buFontTx/>
              <a:buNone/>
              <a:tabLst/>
              <a:defRPr/>
            </a:pPr>
            <a:endParaRPr kumimoji="0" lang="en-US" sz="38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2709358" y="2193280"/>
            <a:ext cx="3725135"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Outlier Detection &amp; Removal</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240828" y="2705546"/>
            <a:ext cx="2662047" cy="321766"/>
          </a:xfrm>
          <a:prstGeom prst="rect">
            <a:avLst/>
          </a:prstGeom>
          <a:noFill/>
          <a:ln/>
        </p:spPr>
        <p:txBody>
          <a:bodyPr wrap="square" lIns="0" tIns="0" rIns="0" bIns="0" rtlCol="0" anchor="t"/>
          <a:lstStyle/>
          <a:p>
            <a:pPr marL="0" marR="0" lvl="0" indent="0" algn="ctr" defTabSz="914400" rtl="0" eaLnBrk="1" fontAlgn="auto" latinLnBrk="0" hangingPunct="1">
              <a:lnSpc>
                <a:spcPts val="2533"/>
              </a:lnSpc>
              <a:spcBef>
                <a:spcPts val="1500"/>
              </a:spcBef>
              <a:spcAft>
                <a:spcPts val="1500"/>
              </a:spcAft>
              <a:buClrTx/>
              <a:buSzTx/>
              <a:buFontTx/>
              <a:buNone/>
              <a:tabLst/>
              <a:defRPr/>
            </a:pPr>
            <a:r>
              <a:rPr kumimoji="0" lang="en-US" sz="2280" b="0" i="0" u="none" strike="noStrike" kern="1200" cap="none" spc="0" normalizeH="0" baseline="0" noProof="0" dirty="0">
                <a:ln>
                  <a:noFill/>
                </a:ln>
                <a:solidFill>
                  <a:srgbClr val="E0E0E0"/>
                </a:solidFill>
                <a:effectLst/>
                <a:uLnTx/>
                <a:uFillTx/>
                <a:latin typeface="Arial" pitchFamily="34" charset="0"/>
                <a:ea typeface="Arial" pitchFamily="34" charset="-122"/>
                <a:cs typeface="Arial" pitchFamily="34" charset="-120"/>
              </a:rPr>
              <a:t>Data Quality Control</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709358" y="3408313"/>
            <a:ext cx="3725135" cy="277267"/>
          </a:xfrm>
          <a:prstGeom prst="rect">
            <a:avLst/>
          </a:prstGeom>
          <a:noFill/>
          <a:ln/>
        </p:spPr>
        <p:txBody>
          <a:bodyPr wrap="square" lIns="0" tIns="0" rIns="0" bIns="0" rtlCol="0" anchor="t"/>
          <a:lstStyle/>
          <a:p>
            <a:pPr marL="0" marR="0" lvl="0" indent="0" algn="ctr" defTabSz="914400" rtl="0" eaLnBrk="1" fontAlgn="auto" latinLnBrk="0" hangingPunct="1">
              <a:lnSpc>
                <a:spcPts val="2184"/>
              </a:lnSpc>
              <a:spcBef>
                <a:spcPts val="3000"/>
              </a:spcBef>
              <a:spcAft>
                <a:spcPts val="300"/>
              </a:spcAft>
              <a:buClrTx/>
              <a:buSzTx/>
              <a:buFontTx/>
              <a:buNone/>
              <a:tabLst/>
              <a:defRPr/>
            </a:pPr>
            <a:r>
              <a:rPr kumimoji="0" lang="en-US" sz="1560" b="0" i="0" u="none" strike="noStrike" kern="1200" cap="none" spc="0" normalizeH="0" baseline="0" noProof="0" dirty="0">
                <a:ln>
                  <a:noFill/>
                </a:ln>
                <a:solidFill>
                  <a:srgbClr val="B0B0B0"/>
                </a:solidFill>
                <a:effectLst/>
                <a:uLnTx/>
                <a:uFillTx/>
                <a:latin typeface="Arial" pitchFamily="34" charset="0"/>
                <a:ea typeface="Arial" pitchFamily="34" charset="-122"/>
                <a:cs typeface="Arial" pitchFamily="34" charset="-120"/>
              </a:rPr>
              <a:t>Tissue: Artery - Coronary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503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Goal of Lab 6</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Identify and remove </a:t>
            </a:r>
            <a:r>
              <a:rPr kumimoji="0" lang="en-US" sz="156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outlier samples</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from the Artery-Coronary gene expression dataset to improve data quality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197894"/>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Ensure downstream analyses (PCA, clustering, regression) are not driven by extreme or low-quality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3220343"/>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6BCF7F"/>
                </a:solidFill>
                <a:effectLst/>
                <a:uLnTx/>
                <a:uFillTx/>
                <a:latin typeface="Arial" pitchFamily="34" charset="0"/>
                <a:ea typeface="Arial" pitchFamily="34" charset="-122"/>
                <a:cs typeface="Arial" pitchFamily="34" charset="-120"/>
              </a:rPr>
              <a:t>Dataset:</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Initial 213 samples, 17,309 genes with metadata including RNA quality, ischemic time, and batch variables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5055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57200"/>
            <a:ext cx="5887593"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250"/>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Why Outlier Detection Is Important</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093440"/>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875"/>
              </a:spcBef>
              <a:spcAft>
                <a:spcPts val="1125"/>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Outliers May Arise From:</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507182"/>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Technical artifacts (RNA degradation, sequencing depth, batch effects)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1983432"/>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Post-mortem effects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459682"/>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Rare or abnormal biological conditions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059757"/>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875"/>
              </a:spcBef>
              <a:spcAft>
                <a:spcPts val="1125"/>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Keeping Strong Outliers Can:</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6750" y="3473500"/>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Distort PCA structure | Inflate variance | Bias correlation and regression analyses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34353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605147"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Outlier Detection Strategy</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452438"/>
          </a:xfrm>
          <a:prstGeom prst="rect">
            <a:avLst/>
          </a:prstGeom>
          <a:noFill/>
          <a:ln/>
        </p:spPr>
        <p:txBody>
          <a:bodyPr wrap="square" lIns="0" tIns="0" rIns="0" bIns="0" rtlCol="0" anchor="t"/>
          <a:lstStyle/>
          <a:p>
            <a:pPr marL="0" marR="0" lvl="0" indent="0" algn="l" defTabSz="914400" rtl="0" eaLnBrk="1" fontAlgn="auto" latinLnBrk="0" hangingPunct="1">
              <a:lnSpc>
                <a:spcPts val="3564"/>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To robustly detect outliers, we used two independent methods: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85057"/>
            <a:ext cx="7966710" cy="385614"/>
          </a:xfrm>
          <a:prstGeom prst="rect">
            <a:avLst/>
          </a:prstGeom>
          <a:noFill/>
          <a:ln/>
        </p:spPr>
        <p:txBody>
          <a:bodyPr wrap="square" lIns="0" tIns="0" rIns="0" bIns="0" rtlCol="0" anchor="t"/>
          <a:lstStyle/>
          <a:p>
            <a:pPr marL="0" marR="0" lvl="0" indent="0" algn="l" defTabSz="914400" rtl="0" eaLnBrk="1" fontAlgn="auto" latinLnBrk="0" hangingPunct="1">
              <a:lnSpc>
                <a:spcPts val="3036"/>
              </a:lnSpc>
              <a:spcBef>
                <a:spcPts val="1650"/>
              </a:spcBef>
              <a:spcAft>
                <a:spcPts val="1650"/>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1. PCA-based outlier detection</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480221"/>
            <a:ext cx="7966710" cy="385614"/>
          </a:xfrm>
          <a:prstGeom prst="rect">
            <a:avLst/>
          </a:prstGeom>
          <a:noFill/>
          <a:ln/>
        </p:spPr>
        <p:txBody>
          <a:bodyPr wrap="square" lIns="0" tIns="0" rIns="0" bIns="0" rtlCol="0" anchor="t"/>
          <a:lstStyle/>
          <a:p>
            <a:pPr marL="0" marR="0" lvl="0" indent="0" algn="l" defTabSz="914400" rtl="0" eaLnBrk="1" fontAlgn="auto" latinLnBrk="0" hangingPunct="1">
              <a:lnSpc>
                <a:spcPts val="3036"/>
              </a:lnSpc>
              <a:spcBef>
                <a:spcPts val="1650"/>
              </a:spcBef>
              <a:spcAft>
                <a:spcPts val="1650"/>
              </a:spcAft>
              <a:buClrTx/>
              <a:buSzTx/>
              <a:buFontTx/>
              <a:buNone/>
              <a:tabLst/>
              <a:defRPr/>
            </a:pP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 Hierarchical clustering of samples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075384"/>
            <a:ext cx="7966710" cy="385614"/>
          </a:xfrm>
          <a:prstGeom prst="rect">
            <a:avLst/>
          </a:prstGeom>
          <a:noFill/>
          <a:ln/>
        </p:spPr>
        <p:txBody>
          <a:bodyPr wrap="square" lIns="0" tIns="0" rIns="0" bIns="0" rtlCol="0" anchor="t"/>
          <a:lstStyle/>
          <a:p>
            <a:pPr marL="0" marR="0" lvl="0" indent="0" algn="l" defTabSz="914400" rtl="0" eaLnBrk="1" fontAlgn="auto" latinLnBrk="0" hangingPunct="1">
              <a:lnSpc>
                <a:spcPts val="3036"/>
              </a:lnSpc>
              <a:spcBef>
                <a:spcPts val="1650"/>
              </a:spcBef>
              <a:spcAft>
                <a:spcPts val="165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88645" y="3487009"/>
            <a:ext cx="7966710" cy="904875"/>
          </a:xfrm>
          <a:prstGeom prst="rect">
            <a:avLst/>
          </a:prstGeom>
          <a:noFill/>
          <a:ln/>
        </p:spPr>
        <p:txBody>
          <a:bodyPr wrap="square" lIns="0" tIns="0" rIns="0" bIns="0" rtlCol="0" anchor="t"/>
          <a:lstStyle/>
          <a:p>
            <a:pPr marL="0" marR="0" lvl="0" indent="0" algn="l" defTabSz="914400" rtl="0" eaLnBrk="1" fontAlgn="auto" latinLnBrk="0" hangingPunct="1">
              <a:lnSpc>
                <a:spcPts val="3564"/>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Final decision based on union of samples flagged by any method (conservative approach)</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70256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571500" y="381000"/>
            <a:ext cx="6130481" cy="319980"/>
          </a:xfrm>
          <a:prstGeom prst="rect">
            <a:avLst/>
          </a:prstGeom>
          <a:noFill/>
          <a:ln/>
        </p:spPr>
        <p:txBody>
          <a:bodyPr wrap="square" lIns="0" tIns="0" rIns="0" bIns="0" rtlCol="0" anchor="t"/>
          <a:lstStyle/>
          <a:p>
            <a:pPr marL="0" marR="0" lvl="0" indent="0" algn="l" defTabSz="914400" rtl="0" eaLnBrk="1" fontAlgn="auto" latinLnBrk="0" hangingPunct="1">
              <a:lnSpc>
                <a:spcPts val="2520"/>
              </a:lnSpc>
              <a:spcBef>
                <a:spcPts val="0"/>
              </a:spcBef>
              <a:spcAft>
                <a:spcPts val="1875"/>
              </a:spcAft>
              <a:buClrTx/>
              <a:buSzTx/>
              <a:buFontTx/>
              <a:buNone/>
              <a:tabLst/>
              <a:defRPr/>
            </a:pPr>
            <a:r>
              <a:rPr kumimoji="0" lang="en-US" sz="25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Method 1: PCA-Based Outlier Detection</a:t>
            </a:r>
            <a:endParaRPr kumimoji="0" lang="en-US" sz="25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71500" y="939105"/>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1500"/>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Approach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1500" y="1335881"/>
            <a:ext cx="8161020" cy="347514"/>
          </a:xfrm>
          <a:prstGeom prst="rect">
            <a:avLst/>
          </a:prstGeom>
          <a:noFill/>
          <a:ln/>
        </p:spPr>
        <p:txBody>
          <a:bodyPr wrap="square" lIns="0" tIns="0" rIns="0" bIns="0" rtlCol="0" anchor="t"/>
          <a:lstStyle/>
          <a:p>
            <a:pPr marL="0" marR="0" lvl="0" indent="0" algn="l" defTabSz="914400" rtl="0" eaLnBrk="1" fontAlgn="auto" latinLnBrk="0" hangingPunct="1">
              <a:lnSpc>
                <a:spcPts val="2736"/>
              </a:lnSpc>
              <a:spcBef>
                <a:spcPts val="900"/>
              </a:spcBef>
              <a:spcAft>
                <a:spcPts val="900"/>
              </a:spcAft>
              <a:buClrTx/>
              <a:buSzTx/>
              <a:buFontTx/>
              <a:buNone/>
              <a:tabLst/>
              <a:defRPr/>
            </a:pP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Standardized expression matrix (samples × genes)</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71500" y="1797695"/>
            <a:ext cx="8161020" cy="347514"/>
          </a:xfrm>
          <a:prstGeom prst="rect">
            <a:avLst/>
          </a:prstGeom>
          <a:noFill/>
          <a:ln/>
        </p:spPr>
        <p:txBody>
          <a:bodyPr wrap="square" lIns="0" tIns="0" rIns="0" bIns="0" rtlCol="0" anchor="t"/>
          <a:lstStyle/>
          <a:p>
            <a:pPr marL="0" marR="0" lvl="0" indent="0" algn="l" defTabSz="914400" rtl="0" eaLnBrk="1" fontAlgn="auto" latinLnBrk="0" hangingPunct="1">
              <a:lnSpc>
                <a:spcPts val="2736"/>
              </a:lnSpc>
              <a:spcBef>
                <a:spcPts val="900"/>
              </a:spcBef>
              <a:spcAft>
                <a:spcPts val="900"/>
              </a:spcAft>
              <a:buClrTx/>
              <a:buSzTx/>
              <a:buFontTx/>
              <a:buNone/>
              <a:tabLst/>
              <a:defRPr/>
            </a:pP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Performed PCA and examined PC1 and PC2 coordinates</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71500" y="2259509"/>
            <a:ext cx="8161020" cy="347514"/>
          </a:xfrm>
          <a:prstGeom prst="rect">
            <a:avLst/>
          </a:prstGeom>
          <a:noFill/>
          <a:ln/>
        </p:spPr>
        <p:txBody>
          <a:bodyPr wrap="square" lIns="0" tIns="0" rIns="0" bIns="0" rtlCol="0" anchor="t"/>
          <a:lstStyle/>
          <a:p>
            <a:pPr marL="0" marR="0" lvl="0" indent="0" algn="l" defTabSz="914400" rtl="0" eaLnBrk="1" fontAlgn="auto" latinLnBrk="0" hangingPunct="1">
              <a:lnSpc>
                <a:spcPts val="2736"/>
              </a:lnSpc>
              <a:spcBef>
                <a:spcPts val="900"/>
              </a:spcBef>
              <a:spcAft>
                <a:spcPts val="900"/>
              </a:spcAft>
              <a:buClrTx/>
              <a:buSzTx/>
              <a:buFontTx/>
              <a:buNone/>
              <a:tabLst/>
              <a:defRPr/>
            </a:pP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Computed z-scores across samples</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71500" y="2797522"/>
            <a:ext cx="4090226" cy="253901"/>
          </a:xfrm>
          <a:prstGeom prst="rect">
            <a:avLst/>
          </a:prstGeom>
          <a:noFill/>
          <a:ln/>
        </p:spPr>
        <p:txBody>
          <a:bodyPr wrap="square" lIns="0" tIns="0" rIns="0" bIns="0" rtlCol="0" anchor="t"/>
          <a:lstStyle/>
          <a:p>
            <a:pPr marL="0" marR="0" lvl="0" indent="0" algn="l" defTabSz="914400" rtl="0" eaLnBrk="1" fontAlgn="auto" latinLnBrk="0" hangingPunct="1">
              <a:lnSpc>
                <a:spcPts val="2000"/>
              </a:lnSpc>
              <a:spcBef>
                <a:spcPts val="1500"/>
              </a:spcBef>
              <a:spcAft>
                <a:spcPts val="1125"/>
              </a:spcAft>
              <a:buClrTx/>
              <a:buSzTx/>
              <a:buFontTx/>
              <a:buNone/>
              <a:tabLst/>
              <a:defRPr/>
            </a:pPr>
            <a:r>
              <a:rPr kumimoji="0" lang="en-US" sz="180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Outlier Definition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71500" y="3194298"/>
            <a:ext cx="8161020" cy="347514"/>
          </a:xfrm>
          <a:prstGeom prst="rect">
            <a:avLst/>
          </a:prstGeom>
          <a:noFill/>
          <a:ln/>
        </p:spPr>
        <p:txBody>
          <a:bodyPr wrap="square" lIns="0" tIns="0" rIns="0" bIns="0" rtlCol="0" anchor="t"/>
          <a:lstStyle/>
          <a:p>
            <a:pPr marL="0" marR="0" lvl="0" indent="0" algn="l" defTabSz="914400" rtl="0" eaLnBrk="1" fontAlgn="auto" latinLnBrk="0" hangingPunct="1">
              <a:lnSpc>
                <a:spcPts val="2736"/>
              </a:lnSpc>
              <a:spcBef>
                <a:spcPts val="900"/>
              </a:spcBef>
              <a:spcAft>
                <a:spcPts val="900"/>
              </a:spcAft>
              <a:buClrTx/>
              <a:buSzTx/>
              <a:buFontTx/>
              <a:buNone/>
              <a:tabLst/>
              <a:defRPr/>
            </a:pP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Sample flagged if </a:t>
            </a:r>
            <a:r>
              <a:rPr kumimoji="0" lang="en-US" sz="117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|z| &gt; 3</a:t>
            </a: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on PC1 or PC2</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4559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187381"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PCA Outlier Results</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297954"/>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One sample lies far outside the main PCA cloud: </a:t>
            </a:r>
            <a:r>
              <a:rPr kumimoji="0" lang="en-US" sz="1121"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GTEX-14E7W-1026-SM-62LEK</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159073"/>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Shows extreme global expression patterns, likely reflecting technical or biological abnormality. Correctly identified as PCA outlier.</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0" descr="lab6_pca_outliers.png"/>
          <p:cNvPicPr>
            <a:picLocks noChangeAspect="1"/>
          </p:cNvPicPr>
          <p:nvPr/>
        </p:nvPicPr>
        <p:blipFill>
          <a:blip r:embed="rId3"/>
          <a:stretch>
            <a:fillRect/>
          </a:stretch>
        </p:blipFill>
        <p:spPr>
          <a:xfrm>
            <a:off x="1371600" y="1828800"/>
            <a:ext cx="6400800" cy="2743200"/>
          </a:xfrm>
          <a:prstGeom prst="rect">
            <a:avLst/>
          </a:prstGeom>
        </p:spPr>
      </p:pic>
    </p:spTree>
    <p:extLst>
      <p:ext uri="{BB962C8B-B14F-4D97-AF65-F5344CB8AC3E}">
        <p14:creationId xmlns:p14="http://schemas.microsoft.com/office/powerpoint/2010/main" val="1646674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702999"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625"/>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Method 2: Hierarchical Clustering</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60115"/>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Computed </a:t>
            </a: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correlation distance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between samples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766590"/>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Applied </a:t>
            </a: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average linkage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hierarchical clustering</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373064"/>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Generated full dendrogram (all samples) and truncated dendrogram (last merges only)</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979539"/>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Truncated view highlights samples merging at highest distances for easier outlier identification</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8950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323398"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Full Dendrogram (All Samples)</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Includes all 213 samples showing complete hierarchical structure. Difficult to interpret due to dataset size - individual samples cannot be clearly distinguished.</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lab6_dendro_full.png"/>
          <p:cNvPicPr>
            <a:picLocks noChangeAspect="1"/>
          </p:cNvPicPr>
          <p:nvPr/>
        </p:nvPicPr>
        <p:blipFill>
          <a:blip r:embed="rId3"/>
          <a:stretch>
            <a:fillRect/>
          </a:stretch>
        </p:blipFill>
        <p:spPr>
          <a:xfrm>
            <a:off x="457200" y="1645920"/>
            <a:ext cx="8229600" cy="3108960"/>
          </a:xfrm>
          <a:prstGeom prst="rect">
            <a:avLst/>
          </a:prstGeom>
        </p:spPr>
      </p:pic>
    </p:spTree>
    <p:extLst>
      <p:ext uri="{BB962C8B-B14F-4D97-AF65-F5344CB8AC3E}">
        <p14:creationId xmlns:p14="http://schemas.microsoft.com/office/powerpoint/2010/main" val="2754022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498973"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3000"/>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Full vs. Truncated Dendrogram</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223070"/>
            <a:ext cx="7966710" cy="452438"/>
          </a:xfrm>
          <a:prstGeom prst="rect">
            <a:avLst/>
          </a:prstGeom>
          <a:noFill/>
          <a:ln/>
        </p:spPr>
        <p:txBody>
          <a:bodyPr wrap="square" lIns="0" tIns="0" rIns="0" bIns="0" rtlCol="0" anchor="t"/>
          <a:lstStyle/>
          <a:p>
            <a:pPr marL="0" marR="0" lvl="0" indent="0" algn="l" defTabSz="914400" rtl="0" eaLnBrk="1" fontAlgn="auto" latinLnBrk="0" hangingPunct="1">
              <a:lnSpc>
                <a:spcPts val="3564"/>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Full dendrogram:</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Shows all samples but difficult to interpret outliers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85057"/>
            <a:ext cx="7966710" cy="452438"/>
          </a:xfrm>
          <a:prstGeom prst="rect">
            <a:avLst/>
          </a:prstGeom>
          <a:noFill/>
          <a:ln/>
        </p:spPr>
        <p:txBody>
          <a:bodyPr wrap="square" lIns="0" tIns="0" rIns="0" bIns="0" rtlCol="0" anchor="t"/>
          <a:lstStyle/>
          <a:p>
            <a:pPr marL="0" marR="0" lvl="0" indent="0" algn="l" defTabSz="914400" rtl="0" eaLnBrk="1" fontAlgn="auto" latinLnBrk="0" hangingPunct="1">
              <a:lnSpc>
                <a:spcPts val="3564"/>
              </a:lnSpc>
              <a:spcBef>
                <a:spcPts val="1650"/>
              </a:spcBef>
              <a:spcAft>
                <a:spcPts val="165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Truncated dendrogram:</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Shows only the </a:t>
            </a:r>
            <a:r>
              <a:rPr kumimoji="0" lang="en-US" sz="162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last merges</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(highest distances)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547045"/>
            <a:ext cx="7966710" cy="904875"/>
          </a:xfrm>
          <a:prstGeom prst="rect">
            <a:avLst/>
          </a:prstGeom>
          <a:noFill/>
          <a:ln/>
        </p:spPr>
        <p:txBody>
          <a:bodyPr wrap="square" lIns="0" tIns="0" rIns="0" bIns="0" rtlCol="0" anchor="t"/>
          <a:lstStyle/>
          <a:p>
            <a:pPr marL="0" marR="0" lvl="0" indent="0" algn="l" defTabSz="914400" rtl="0" eaLnBrk="1" fontAlgn="auto" latinLnBrk="0" hangingPunct="1">
              <a:lnSpc>
                <a:spcPts val="3564"/>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Truncated view highlights samples merging at extreme distances, making outlier identification much clearer</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7141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323398" cy="281880"/>
          </a:xfrm>
          <a:prstGeom prst="rect">
            <a:avLst/>
          </a:prstGeom>
          <a:noFill/>
          <a:ln/>
        </p:spPr>
        <p:txBody>
          <a:bodyPr wrap="square" lIns="0" tIns="0" rIns="0" bIns="0" rtlCol="0" anchor="t"/>
          <a:lstStyle/>
          <a:p>
            <a:pPr marL="0" marR="0" lvl="0" indent="0" algn="l" defTabSz="914400" rtl="0" eaLnBrk="1" fontAlgn="auto" latinLnBrk="0" hangingPunct="1">
              <a:lnSpc>
                <a:spcPts val="2220"/>
              </a:lnSpc>
              <a:spcBef>
                <a:spcPts val="0"/>
              </a:spcBef>
              <a:spcAft>
                <a:spcPts val="1125"/>
              </a:spcAft>
              <a:buClrTx/>
              <a:buSzTx/>
              <a:buFontTx/>
              <a:buNone/>
              <a:tabLst/>
              <a:defRPr/>
            </a:pPr>
            <a:r>
              <a:rPr kumimoji="0" lang="en-US" sz="22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Hierarchical Clustering Outliers</a:t>
            </a:r>
            <a:endParaRPr kumimoji="0" lang="en-US" sz="22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58130"/>
            <a:ext cx="8355330" cy="569714"/>
          </a:xfrm>
          <a:prstGeom prst="rect">
            <a:avLst/>
          </a:prstGeom>
          <a:noFill/>
          <a:ln/>
        </p:spPr>
        <p:txBody>
          <a:bodyPr wrap="square" lIns="0" tIns="0" rIns="0" bIns="0" rtlCol="0" anchor="t"/>
          <a:lstStyle/>
          <a:p>
            <a:pPr marL="0" marR="0" lvl="0" indent="0" algn="l" defTabSz="914400" rtl="0" eaLnBrk="1" fontAlgn="auto" latinLnBrk="0" hangingPunct="1">
              <a:lnSpc>
                <a:spcPts val="2244"/>
              </a:lnSpc>
              <a:spcBef>
                <a:spcPts val="750"/>
              </a:spcBef>
              <a:spcAft>
                <a:spcPts val="750"/>
              </a:spcAft>
              <a:buClrTx/>
              <a:buSzTx/>
              <a:buFontTx/>
              <a:buNone/>
              <a:tabLst/>
              <a:defRPr/>
            </a:pPr>
            <a:r>
              <a:rPr kumimoji="0" lang="en-US" sz="13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Samples merging at extremely high distance (99th percentile). Small clusters (≤2 samples) at extreme cut are outliers.</a:t>
            </a:r>
            <a:endParaRPr kumimoji="0" lang="en-US" sz="13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76250" y="1423095"/>
            <a:ext cx="8355330" cy="199876"/>
          </a:xfrm>
          <a:prstGeom prst="rect">
            <a:avLst/>
          </a:prstGeom>
          <a:noFill/>
          <a:ln/>
        </p:spPr>
        <p:txBody>
          <a:bodyPr wrap="square" lIns="0" tIns="0" rIns="0" bIns="0" rtlCol="0" anchor="t"/>
          <a:lstStyle/>
          <a:p>
            <a:pPr marL="0" marR="0" lvl="0" indent="0" algn="l" defTabSz="914400" rtl="0" eaLnBrk="1" fontAlgn="auto" latinLnBrk="0" hangingPunct="1">
              <a:lnSpc>
                <a:spcPts val="1575"/>
              </a:lnSpc>
              <a:spcBef>
                <a:spcPts val="750"/>
              </a:spcBef>
              <a:spcAft>
                <a:spcPts val="750"/>
              </a:spcAft>
              <a:buClrTx/>
              <a:buSzTx/>
              <a:buFontTx/>
              <a:buNone/>
              <a:tabLst/>
              <a:defRPr/>
            </a:pPr>
            <a:r>
              <a:rPr kumimoji="0" lang="en-US" sz="926" b="1" i="0" u="none" strike="noStrike" kern="1200" cap="none" spc="0" normalizeH="0" baseline="0" noProof="0" dirty="0">
                <a:ln>
                  <a:noFill/>
                </a:ln>
                <a:solidFill>
                  <a:srgbClr val="FF6B6B"/>
                </a:solidFill>
                <a:effectLst/>
                <a:uLnTx/>
                <a:uFillTx/>
                <a:latin typeface="monospace" pitchFamily="34" charset="0"/>
                <a:ea typeface="monospace" pitchFamily="34" charset="-122"/>
                <a:cs typeface="monospace" pitchFamily="34" charset="-120"/>
              </a:rPr>
              <a:t>GTEX-1EX96-2826-SM-7PBZQ | GTEX-1JMQJ-2526-SM-CY8HP | GTEX-WHSE-0726-SM-4RTXA</a:t>
            </a:r>
            <a:endParaRPr kumimoji="0" lang="en-US" sz="92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76250" y="1718221"/>
            <a:ext cx="8355330" cy="284857"/>
          </a:xfrm>
          <a:prstGeom prst="rect">
            <a:avLst/>
          </a:prstGeom>
          <a:noFill/>
          <a:ln/>
        </p:spPr>
        <p:txBody>
          <a:bodyPr wrap="square" lIns="0" tIns="0" rIns="0" bIns="0" rtlCol="0" anchor="t"/>
          <a:lstStyle/>
          <a:p>
            <a:pPr marL="0" marR="0" lvl="0" indent="0" algn="l" defTabSz="914400" rtl="0" eaLnBrk="1" fontAlgn="auto" latinLnBrk="0" hangingPunct="1">
              <a:lnSpc>
                <a:spcPts val="2244"/>
              </a:lnSpc>
              <a:spcBef>
                <a:spcPts val="750"/>
              </a:spcBef>
              <a:spcAft>
                <a:spcPts val="750"/>
              </a:spcAft>
              <a:buClrTx/>
              <a:buSzTx/>
              <a:buFontTx/>
              <a:buNone/>
              <a:tabLst/>
              <a:defRPr/>
            </a:pPr>
            <a:r>
              <a:rPr kumimoji="0" lang="en-US" sz="13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These correspond to far-left/last-merging branches in the dendrogram.</a:t>
            </a:r>
            <a:endParaRPr kumimoji="0" lang="en-US" sz="13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lab6_dendro_truncated.png"/>
          <p:cNvPicPr>
            <a:picLocks noChangeAspect="1"/>
          </p:cNvPicPr>
          <p:nvPr/>
        </p:nvPicPr>
        <p:blipFill>
          <a:blip r:embed="rId3"/>
          <a:stretch>
            <a:fillRect/>
          </a:stretch>
        </p:blipFill>
        <p:spPr>
          <a:xfrm>
            <a:off x="1371600" y="2103120"/>
            <a:ext cx="6400800" cy="2468880"/>
          </a:xfrm>
          <a:prstGeom prst="rect">
            <a:avLst/>
          </a:prstGeom>
        </p:spPr>
      </p:pic>
    </p:spTree>
    <p:extLst>
      <p:ext uri="{BB962C8B-B14F-4D97-AF65-F5344CB8AC3E}">
        <p14:creationId xmlns:p14="http://schemas.microsoft.com/office/powerpoint/2010/main" val="926911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57200"/>
            <a:ext cx="4692587"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250"/>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Combining Outlier Methods</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093440"/>
            <a:ext cx="7966710" cy="338286"/>
          </a:xfrm>
          <a:prstGeom prst="rect">
            <a:avLst/>
          </a:prstGeom>
          <a:noFill/>
          <a:ln/>
        </p:spPr>
        <p:txBody>
          <a:bodyPr wrap="square" lIns="0" tIns="0" rIns="0" bIns="0" rtlCol="0" anchor="t"/>
          <a:lstStyle/>
          <a:p>
            <a:pPr marL="0" marR="0" lvl="0" indent="0" algn="l" defTabSz="914400" rtl="0" eaLnBrk="1" fontAlgn="auto" latinLnBrk="0" hangingPunct="1">
              <a:lnSpc>
                <a:spcPts val="2664"/>
              </a:lnSpc>
              <a:spcBef>
                <a:spcPts val="1050"/>
              </a:spcBef>
              <a:spcAft>
                <a:spcPts val="1050"/>
              </a:spcAft>
              <a:buClrTx/>
              <a:buSzTx/>
              <a:buFontTx/>
              <a:buNone/>
              <a:tabLst/>
              <a:defRPr/>
            </a:pPr>
            <a:r>
              <a:rPr kumimoji="0" lang="en-US" sz="144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PCA outliers: 1</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565077"/>
            <a:ext cx="7966710" cy="338286"/>
          </a:xfrm>
          <a:prstGeom prst="rect">
            <a:avLst/>
          </a:prstGeom>
          <a:noFill/>
          <a:ln/>
        </p:spPr>
        <p:txBody>
          <a:bodyPr wrap="square" lIns="0" tIns="0" rIns="0" bIns="0" rtlCol="0" anchor="t"/>
          <a:lstStyle/>
          <a:p>
            <a:pPr marL="0" marR="0" lvl="0" indent="0" algn="l" defTabSz="914400" rtl="0" eaLnBrk="1" fontAlgn="auto" latinLnBrk="0" hangingPunct="1">
              <a:lnSpc>
                <a:spcPts val="2664"/>
              </a:lnSpc>
              <a:spcBef>
                <a:spcPts val="1050"/>
              </a:spcBef>
              <a:spcAft>
                <a:spcPts val="1050"/>
              </a:spcAft>
              <a:buClrTx/>
              <a:buSzTx/>
              <a:buFontTx/>
              <a:buNone/>
              <a:tabLst/>
              <a:defRPr/>
            </a:pPr>
            <a:r>
              <a:rPr kumimoji="0" lang="en-US" sz="144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Hierarchical clustering outliers: 3</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81176" y="2499867"/>
            <a:ext cx="7966710" cy="1065609"/>
          </a:xfrm>
          <a:prstGeom prst="rect">
            <a:avLst/>
          </a:prstGeom>
          <a:noFill/>
          <a:ln/>
        </p:spPr>
        <p:txBody>
          <a:bodyPr wrap="square" lIns="0" tIns="0" rIns="0" bIns="0" rtlCol="0" anchor="t"/>
          <a:lstStyle/>
          <a:p>
            <a:pPr marL="0" marR="0" lvl="0" indent="0" algn="l" defTabSz="914400" rtl="0" eaLnBrk="1" fontAlgn="auto" latinLnBrk="0" hangingPunct="1">
              <a:lnSpc>
                <a:spcPts val="3064"/>
              </a:lnSpc>
              <a:spcBef>
                <a:spcPts val="1050"/>
              </a:spcBef>
              <a:spcAft>
                <a:spcPts val="1050"/>
              </a:spcAft>
              <a:buClrTx/>
              <a:buSzTx/>
              <a:buFontTx/>
              <a:buNone/>
              <a:tabLst/>
              <a:defRPr/>
            </a:pP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81176" y="2266913"/>
            <a:ext cx="7966710" cy="324296"/>
          </a:xfrm>
          <a:prstGeom prst="rect">
            <a:avLst/>
          </a:prstGeom>
          <a:noFill/>
          <a:ln/>
        </p:spPr>
        <p:txBody>
          <a:bodyPr wrap="square" lIns="0" tIns="0" rIns="0" bIns="0" rtlCol="0" anchor="t"/>
          <a:lstStyle/>
          <a:p>
            <a:pPr marL="0" marR="0" lvl="0" indent="0" algn="l" defTabSz="914400" rtl="0" eaLnBrk="1" fontAlgn="auto" latinLnBrk="0" hangingPunct="1">
              <a:lnSpc>
                <a:spcPts val="2553"/>
              </a:lnSpc>
              <a:spcBef>
                <a:spcPts val="1050"/>
              </a:spcBef>
              <a:spcAft>
                <a:spcPts val="1050"/>
              </a:spcAft>
              <a:buClrTx/>
              <a:buSzTx/>
              <a:buFontTx/>
              <a:buNone/>
              <a:tabLst/>
              <a:defRPr/>
            </a:pPr>
            <a:r>
              <a:rPr kumimoji="0" lang="en-US" sz="138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Final removed samples: 4 (union of all methods)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81176" y="2824163"/>
            <a:ext cx="7966710" cy="338286"/>
          </a:xfrm>
          <a:prstGeom prst="rect">
            <a:avLst/>
          </a:prstGeom>
          <a:noFill/>
          <a:ln/>
        </p:spPr>
        <p:txBody>
          <a:bodyPr wrap="square" lIns="0" tIns="0" rIns="0" bIns="0" rtlCol="0" anchor="t"/>
          <a:lstStyle/>
          <a:p>
            <a:pPr marL="0" marR="0" lvl="0" indent="0" algn="l" defTabSz="914400" rtl="0" eaLnBrk="1" fontAlgn="auto" latinLnBrk="0" hangingPunct="1">
              <a:lnSpc>
                <a:spcPts val="2664"/>
              </a:lnSpc>
              <a:spcBef>
                <a:spcPts val="1050"/>
              </a:spcBef>
              <a:spcAft>
                <a:spcPts val="1050"/>
              </a:spcAft>
              <a:buClrTx/>
              <a:buSzTx/>
              <a:buFontTx/>
              <a:buNone/>
              <a:tabLst/>
              <a:defRPr/>
            </a:pPr>
            <a:r>
              <a:rPr kumimoji="0" lang="en-US" sz="144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Conservative strategy ensures no strong outlier influences downstream analyses</a:t>
            </a:r>
            <a:endParaRPr kumimoji="0" lang="en-US" sz="14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131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4187381" cy="289620"/>
          </a:xfrm>
          <a:prstGeom prst="rect">
            <a:avLst/>
          </a:prstGeom>
          <a:noFill/>
          <a:ln/>
        </p:spPr>
        <p:txBody>
          <a:bodyPr wrap="square" lIns="0" tIns="0" rIns="0" bIns="0" rtlCol="0" anchor="t"/>
          <a:lstStyle/>
          <a:p>
            <a:pPr marL="0" marR="0" lvl="0" indent="0" algn="l" defTabSz="914400" rtl="0" eaLnBrk="1" fontAlgn="auto" latinLnBrk="0" hangingPunct="1">
              <a:lnSpc>
                <a:spcPts val="2280"/>
              </a:lnSpc>
              <a:spcBef>
                <a:spcPts val="0"/>
              </a:spcBef>
              <a:spcAft>
                <a:spcPts val="1125"/>
              </a:spcAft>
              <a:buClrTx/>
              <a:buSzTx/>
              <a:buFontTx/>
              <a:buNone/>
              <a:tabLst/>
              <a:defRPr/>
            </a:pPr>
            <a:r>
              <a:rPr kumimoji="0" lang="en-US" sz="22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PCA After Outlier Removal</a:t>
            </a:r>
            <a:endParaRPr kumimoji="0" lang="en-US" sz="22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76250" y="765870"/>
            <a:ext cx="8355330" cy="595908"/>
          </a:xfrm>
          <a:prstGeom prst="rect">
            <a:avLst/>
          </a:prstGeom>
          <a:noFill/>
          <a:ln/>
        </p:spPr>
        <p:txBody>
          <a:bodyPr wrap="square" lIns="0" tIns="0" rIns="0" bIns="0" rtlCol="0" anchor="t"/>
          <a:lstStyle/>
          <a:p>
            <a:pPr marL="0" marR="0" lvl="0" indent="0" algn="l" defTabSz="914400" rtl="0" eaLnBrk="1" fontAlgn="auto" latinLnBrk="0" hangingPunct="1">
              <a:lnSpc>
                <a:spcPts val="2346"/>
              </a:lnSpc>
              <a:spcBef>
                <a:spcPts val="750"/>
              </a:spcBef>
              <a:spcAft>
                <a:spcPts val="750"/>
              </a:spcAft>
              <a:buClrTx/>
              <a:buSzTx/>
              <a:buFontTx/>
              <a:buNone/>
              <a:tabLst/>
              <a:defRPr/>
            </a:pP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After removing identified outliers, PCA was recomputed. </a:t>
            </a:r>
            <a:r>
              <a:rPr kumimoji="0" lang="en-US" sz="138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More compact sample cloud</a:t>
            </a:r>
            <a:r>
              <a:rPr kumimoji="0" lang="en-US" sz="138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with no extreme points dominating PC1 or PC2. Improved data quality for downstream analysis.</a:t>
            </a:r>
            <a:endParaRPr kumimoji="0" lang="en-US" sz="1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lab6_pca_after.png"/>
          <p:cNvPicPr>
            <a:picLocks noChangeAspect="1"/>
          </p:cNvPicPr>
          <p:nvPr/>
        </p:nvPicPr>
        <p:blipFill>
          <a:blip r:embed="rId3"/>
          <a:stretch>
            <a:fillRect/>
          </a:stretch>
        </p:blipFill>
        <p:spPr>
          <a:xfrm>
            <a:off x="1371600" y="1828800"/>
            <a:ext cx="6400800" cy="2844800"/>
          </a:xfrm>
          <a:prstGeom prst="rect">
            <a:avLst/>
          </a:prstGeom>
        </p:spPr>
      </p:pic>
    </p:spTree>
    <p:extLst>
      <p:ext uri="{BB962C8B-B14F-4D97-AF65-F5344CB8AC3E}">
        <p14:creationId xmlns:p14="http://schemas.microsoft.com/office/powerpoint/2010/main" val="4342699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Conclusions</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Outliers detected using two complementary methods, each capturing different abnormality types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197894"/>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Union-based removal strategy is conservative and robust</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804368"/>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Removing 4 samples improves stability of PCA and clustering</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410843"/>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The cleaned dataset is now suitable for further biological analysis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4816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3993071"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Goal of Lab 7</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After filtering, removing outliers, and normalizing the data, we must </a:t>
            </a:r>
            <a:r>
              <a:rPr kumimoji="0" lang="en-US" sz="156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correct for confounders</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that influenced gene expression levels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2197894"/>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Use </a:t>
            </a:r>
            <a:r>
              <a:rPr kumimoji="0" lang="en-US" sz="156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multiple linear regression</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to neutralize noise and biases in the data</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804368"/>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Residuals from regression become the corrected expression values for downstream analyses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5903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459415"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Data Processing Pipeline</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500"/>
              </a:spcBef>
              <a:spcAft>
                <a:spcPts val="150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1. Gene Filtering:</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Remove low expression and low variance genes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797844"/>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500"/>
              </a:spcBef>
              <a:spcAft>
                <a:spcPts val="150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 Outlier Removal:</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Remove </a:t>
            </a:r>
            <a:r>
              <a:rPr lang="en-US" sz="1620" dirty="0">
                <a:solidFill>
                  <a:srgbClr val="E8EAED"/>
                </a:solidFill>
                <a:latin typeface="Arial" pitchFamily="34" charset="0"/>
                <a:ea typeface="Arial" pitchFamily="34" charset="-122"/>
                <a:cs typeface="Arial" pitchFamily="34" charset="-120"/>
              </a:rPr>
              <a:t>4</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outlier samples (from Lab 6)</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420243"/>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500"/>
              </a:spcBef>
              <a:spcAft>
                <a:spcPts val="150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3. Quantile Normalization:</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Equalize expression distributions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042642"/>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500"/>
              </a:spcBef>
              <a:spcAft>
                <a:spcPts val="150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4. Standardization:</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Z-score transformation (mean=0, std=1)</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665041"/>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500"/>
              </a:spcBef>
              <a:spcAft>
                <a:spcPts val="1500"/>
              </a:spcAft>
              <a:buClrTx/>
              <a:buSzTx/>
              <a:buFontTx/>
              <a:buNone/>
              <a:tabLst/>
              <a:defRPr/>
            </a:pPr>
            <a:r>
              <a:rPr kumimoji="0" lang="en-US" sz="162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5. Confounder Correction:</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Multiple linear regression</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97678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57200"/>
            <a:ext cx="3993071" cy="335310"/>
          </a:xfrm>
          <a:prstGeom prst="rect">
            <a:avLst/>
          </a:prstGeom>
          <a:noFill/>
          <a:ln/>
        </p:spPr>
        <p:txBody>
          <a:bodyPr wrap="square" lIns="0" tIns="0" rIns="0" bIns="0" rtlCol="0" anchor="t"/>
          <a:lstStyle/>
          <a:p>
            <a:pPr marL="0" marR="0" lvl="0" indent="0" algn="l" defTabSz="914400" rtl="0" eaLnBrk="1" fontAlgn="auto" latinLnBrk="0" hangingPunct="1">
              <a:lnSpc>
                <a:spcPts val="2640"/>
              </a:lnSpc>
              <a:spcBef>
                <a:spcPts val="0"/>
              </a:spcBef>
              <a:spcAft>
                <a:spcPts val="2100"/>
              </a:spcAft>
              <a:buClrTx/>
              <a:buSzTx/>
              <a:buFontTx/>
              <a:buNone/>
              <a:tabLst/>
              <a:defRPr/>
            </a:pPr>
            <a:r>
              <a:rPr kumimoji="0" lang="en-US" sz="264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Identified Confounders</a:t>
            </a:r>
            <a:endParaRPr kumimoji="0" lang="en-US" sz="26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059210"/>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650"/>
              </a:spcBef>
              <a:spcAft>
                <a:spcPts val="9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Technical Confounders: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44437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SMRIN</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RNA Integrity Number (quality)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192062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SMNABTCH</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Nucleic acid batch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39687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SMGEBTCH</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Expression/genotyping batch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2968377"/>
            <a:ext cx="3993071" cy="270867"/>
          </a:xfrm>
          <a:prstGeom prst="rect">
            <a:avLst/>
          </a:prstGeom>
          <a:noFill/>
          <a:ln/>
        </p:spPr>
        <p:txBody>
          <a:bodyPr wrap="square" lIns="0" tIns="0" rIns="0" bIns="0" rtlCol="0" anchor="t"/>
          <a:lstStyle/>
          <a:p>
            <a:pPr marL="0" marR="0" lvl="0" indent="0" algn="l" defTabSz="914400" rtl="0" eaLnBrk="1" fontAlgn="auto" latinLnBrk="0" hangingPunct="1">
              <a:lnSpc>
                <a:spcPts val="2133"/>
              </a:lnSpc>
              <a:spcBef>
                <a:spcPts val="1650"/>
              </a:spcBef>
              <a:spcAft>
                <a:spcPts val="900"/>
              </a:spcAft>
              <a:buClrTx/>
              <a:buSzTx/>
              <a:buFontTx/>
              <a:buNone/>
              <a:tabLst/>
              <a:defRPr/>
            </a:pPr>
            <a:r>
              <a:rPr kumimoji="0" lang="en-US" sz="192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Biological Confounders: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6750" y="3353544"/>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SMTSISCH</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Ischemic time (post-mortem delay)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66750" y="3829794"/>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DTHHRDY</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Death Type (Hardy scale - mode of death and agonal state)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55801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7383780"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250"/>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Why Death Type Is a Biological Confounder</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12490"/>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Death Type (DTHHRDY - Hardy scale)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reflects mode of death and agonal state</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718965"/>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6BCF7F"/>
                </a:solidFill>
                <a:effectLst/>
                <a:uLnTx/>
                <a:uFillTx/>
                <a:latin typeface="Arial" pitchFamily="34" charset="0"/>
                <a:ea typeface="Arial" pitchFamily="34" charset="-122"/>
                <a:cs typeface="Arial" pitchFamily="34" charset="-120"/>
              </a:rPr>
              <a:t>Biological impact:</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Different death circumstances influence RNA quality and stress-related gene expression patterns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741414"/>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In coronary artery tissue, agonal state can trigger hypoxia-related transcriptional responses, making it a relevant biological confounder to control</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959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5945886"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625"/>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Multiple Linear Regression Method</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60115"/>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For each gene: </a:t>
            </a:r>
            <a:r>
              <a:rPr kumimoji="0" lang="en-US" sz="1268"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Expression = β₀ + β₁(RIN) + β₂(Ischemic) + β₃(DeathType₁) + β₄(Batch₁) + ... + ε</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10540" y="1830120"/>
            <a:ext cx="8231383" cy="704888"/>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Categorical variable (</a:t>
            </a:r>
            <a:r>
              <a:rPr kumimoji="0" lang="en-US" sz="1560" b="0" i="0" u="none" strike="noStrike" kern="1200" cap="none" spc="0" normalizeH="0" baseline="0" noProof="0" dirty="0" err="1">
                <a:ln>
                  <a:noFill/>
                </a:ln>
                <a:solidFill>
                  <a:srgbClr val="E8EAED"/>
                </a:solidFill>
                <a:effectLst/>
                <a:uLnTx/>
                <a:uFillTx/>
                <a:latin typeface="Arial" pitchFamily="34" charset="0"/>
                <a:ea typeface="Arial" pitchFamily="34" charset="-122"/>
                <a:cs typeface="Arial" pitchFamily="34" charset="-120"/>
              </a:rPr>
              <a:t>DeathType</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is one-hot encoded. Batch variables were not included as categorical predictors.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789039"/>
            <a:ext cx="7966710" cy="415975"/>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Residuals (ε)</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observed expression - predicted expression from confounders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395514"/>
            <a:ext cx="7966710" cy="831949"/>
          </a:xfrm>
          <a:prstGeom prst="rect">
            <a:avLst/>
          </a:prstGeom>
          <a:noFill/>
          <a:ln/>
        </p:spPr>
        <p:txBody>
          <a:bodyPr wrap="square" lIns="0" tIns="0" rIns="0" bIns="0" rtlCol="0" anchor="t"/>
          <a:lstStyle/>
          <a:p>
            <a:pPr marL="0" marR="0" lvl="0" indent="0" algn="l" defTabSz="914400" rtl="0" eaLnBrk="1" fontAlgn="auto" latinLnBrk="0" hangingPunct="1">
              <a:lnSpc>
                <a:spcPts val="3276"/>
              </a:lnSpc>
              <a:spcBef>
                <a:spcPts val="1500"/>
              </a:spcBef>
              <a:spcAft>
                <a:spcPts val="1500"/>
              </a:spcAft>
              <a:buClrTx/>
              <a:buSzTx/>
              <a:buFontTx/>
              <a:buNone/>
              <a:tabLst/>
              <a:defRPr/>
            </a:pP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Residuals represent </a:t>
            </a:r>
            <a:r>
              <a:rPr kumimoji="0" lang="en-US" sz="156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corrected expression values</a:t>
            </a:r>
            <a:r>
              <a:rPr kumimoji="0" lang="en-US" sz="156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free from technical and biological biases</a:t>
            </a:r>
            <a:endParaRPr kumimoji="0" lang="en-US" sz="15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361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741164"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Why Residuals Are Critical</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650"/>
              </a:spcBef>
              <a:spcAft>
                <a:spcPts val="1650"/>
              </a:spcAft>
              <a:buClrTx/>
              <a:buSzTx/>
              <a:buFontTx/>
              <a:buNone/>
              <a:tabLst/>
              <a:defRPr/>
            </a:pPr>
            <a:r>
              <a:rPr kumimoji="0" lang="en-US" sz="1316"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Residuals = Observed Expression - Predicted Expression</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816894"/>
            <a:ext cx="7966710" cy="863798"/>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Predicted expression captures </a:t>
            </a:r>
            <a:r>
              <a:rPr kumimoji="0" lang="en-US" sz="162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only technical variation</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from confounders (RIN, ischemic time, batch)</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890242"/>
            <a:ext cx="7966710" cy="431899"/>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650"/>
              </a:spcBef>
              <a:spcAft>
                <a:spcPts val="1650"/>
              </a:spcAft>
              <a:buClrTx/>
              <a:buSzTx/>
              <a:buFontTx/>
              <a:buNone/>
              <a:tabLst/>
              <a:defRPr/>
            </a:pP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Residuals contain </a:t>
            </a:r>
            <a:r>
              <a:rPr kumimoji="0" lang="en-US" sz="162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only biological variation</a:t>
            </a:r>
            <a:r>
              <a:rPr kumimoji="0" lang="en-US" sz="162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the true signal we want to study</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3531691"/>
            <a:ext cx="7966710" cy="863798"/>
          </a:xfrm>
          <a:prstGeom prst="rect">
            <a:avLst/>
          </a:prstGeom>
          <a:noFill/>
          <a:ln/>
        </p:spPr>
        <p:txBody>
          <a:bodyPr wrap="square" lIns="0" tIns="0" rIns="0" bIns="0" rtlCol="0" anchor="t"/>
          <a:lstStyle/>
          <a:p>
            <a:pPr marL="0" marR="0" lvl="0" indent="0" algn="l" defTabSz="914400" rtl="0" eaLnBrk="1" fontAlgn="auto" latinLnBrk="0" hangingPunct="1">
              <a:lnSpc>
                <a:spcPts val="3402"/>
              </a:lnSpc>
              <a:spcBef>
                <a:spcPts val="1650"/>
              </a:spcBef>
              <a:spcAft>
                <a:spcPts val="1650"/>
              </a:spcAft>
              <a:buClrTx/>
              <a:buSzTx/>
              <a:buFontTx/>
              <a:buNone/>
              <a:tabLst/>
              <a:defRPr/>
            </a:pPr>
            <a:r>
              <a:rPr kumimoji="0" lang="en-US" sz="162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All downstream analyses use the residual matrix, not the original expression values</a:t>
            </a:r>
            <a:endParaRPr kumimoji="0" lang="en-US" sz="16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87826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476250" y="333375"/>
            <a:ext cx="6606540" cy="281880"/>
          </a:xfrm>
          <a:prstGeom prst="rect">
            <a:avLst/>
          </a:prstGeom>
          <a:noFill/>
          <a:ln/>
        </p:spPr>
        <p:txBody>
          <a:bodyPr wrap="square" lIns="0" tIns="0" rIns="0" bIns="0" rtlCol="0" anchor="t"/>
          <a:lstStyle/>
          <a:p>
            <a:pPr marL="0" marR="0" lvl="0" indent="0" algn="l" defTabSz="914400" rtl="0" eaLnBrk="1" fontAlgn="auto" latinLnBrk="0" hangingPunct="1">
              <a:lnSpc>
                <a:spcPts val="2220"/>
              </a:lnSpc>
              <a:spcBef>
                <a:spcPts val="0"/>
              </a:spcBef>
              <a:spcAft>
                <a:spcPts val="1125"/>
              </a:spcAft>
              <a:buClrTx/>
              <a:buSzTx/>
              <a:buFontTx/>
              <a:buNone/>
              <a:tabLst/>
              <a:defRPr/>
            </a:pPr>
            <a:r>
              <a:rPr kumimoji="0" lang="en-US" sz="222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PCA After Correction</a:t>
            </a:r>
            <a:endParaRPr kumimoji="0" lang="en-US" sz="22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E115872-0ED5-5E8A-4F6A-785756D0D11B}"/>
              </a:ext>
            </a:extLst>
          </p:cNvPr>
          <p:cNvPicPr>
            <a:picLocks noChangeAspect="1"/>
          </p:cNvPicPr>
          <p:nvPr/>
        </p:nvPicPr>
        <p:blipFill>
          <a:blip r:embed="rId3"/>
          <a:stretch>
            <a:fillRect/>
          </a:stretch>
        </p:blipFill>
        <p:spPr>
          <a:xfrm>
            <a:off x="2264456" y="797800"/>
            <a:ext cx="5079774" cy="4063819"/>
          </a:xfrm>
          <a:prstGeom prst="rect">
            <a:avLst/>
          </a:prstGeom>
        </p:spPr>
      </p:pic>
    </p:spTree>
    <p:extLst>
      <p:ext uri="{BB962C8B-B14F-4D97-AF65-F5344CB8AC3E}">
        <p14:creationId xmlns:p14="http://schemas.microsoft.com/office/powerpoint/2010/main" val="26142863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76250"/>
            <a:ext cx="4653725" cy="365820"/>
          </a:xfrm>
          <a:prstGeom prst="rect">
            <a:avLst/>
          </a:prstGeom>
          <a:noFill/>
          <a:ln/>
        </p:spPr>
        <p:txBody>
          <a:bodyPr wrap="square" lIns="0" tIns="0" rIns="0" bIns="0" rtlCol="0" anchor="t"/>
          <a:lstStyle/>
          <a:p>
            <a:pPr marL="0" marR="0" lvl="0" indent="0" algn="l" defTabSz="914400" rtl="0" eaLnBrk="1" fontAlgn="auto" latinLnBrk="0" hangingPunct="1">
              <a:lnSpc>
                <a:spcPts val="2880"/>
              </a:lnSpc>
              <a:spcBef>
                <a:spcPts val="0"/>
              </a:spcBef>
              <a:spcAft>
                <a:spcPts val="2625"/>
              </a:spcAft>
              <a:buClrTx/>
              <a:buSzTx/>
              <a:buFontTx/>
              <a:buNone/>
              <a:tabLst/>
              <a:defRPr/>
            </a:pPr>
            <a:r>
              <a:rPr kumimoji="0" lang="en-US" sz="288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Before vs After Correction</a:t>
            </a:r>
            <a:endParaRPr kumimoji="0" lang="en-US" sz="28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175445"/>
            <a:ext cx="3993071" cy="287834"/>
          </a:xfrm>
          <a:prstGeom prst="rect">
            <a:avLst/>
          </a:prstGeom>
          <a:noFill/>
          <a:ln/>
        </p:spPr>
        <p:txBody>
          <a:bodyPr wrap="square" lIns="0" tIns="0" rIns="0" bIns="0" rtlCol="0" anchor="t"/>
          <a:lstStyle/>
          <a:p>
            <a:pPr marL="0" marR="0" lvl="0" indent="0" algn="l" defTabSz="914400" rtl="0" eaLnBrk="1" fontAlgn="auto" latinLnBrk="0" hangingPunct="1">
              <a:lnSpc>
                <a:spcPts val="2267"/>
              </a:lnSpc>
              <a:spcBef>
                <a:spcPts val="1875"/>
              </a:spcBef>
              <a:spcAft>
                <a:spcPts val="1125"/>
              </a:spcAft>
              <a:buClrTx/>
              <a:buSzTx/>
              <a:buFontTx/>
              <a:buNone/>
              <a:tabLst/>
              <a:defRPr/>
            </a:pPr>
            <a:r>
              <a:rPr kumimoji="0" lang="en-US" sz="204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Before Correction:</a:t>
            </a:r>
            <a:endParaRPr kumimoji="0" lang="en-US" sz="20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606153"/>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FF6B6B"/>
                </a:solidFill>
                <a:effectLst/>
                <a:uLnTx/>
                <a:uFillTx/>
                <a:latin typeface="Arial" pitchFamily="34" charset="0"/>
                <a:ea typeface="Arial" pitchFamily="34" charset="-122"/>
                <a:cs typeface="Arial" pitchFamily="34" charset="-120"/>
              </a:rPr>
              <a:t>Visible patterns</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for RIN, ischemic time, death type, and batch effects in PCA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206228"/>
            <a:ext cx="3993071" cy="287834"/>
          </a:xfrm>
          <a:prstGeom prst="rect">
            <a:avLst/>
          </a:prstGeom>
          <a:noFill/>
          <a:ln/>
        </p:spPr>
        <p:txBody>
          <a:bodyPr wrap="square" lIns="0" tIns="0" rIns="0" bIns="0" rtlCol="0" anchor="t"/>
          <a:lstStyle/>
          <a:p>
            <a:pPr marL="0" marR="0" lvl="0" indent="0" algn="l" defTabSz="914400" rtl="0" eaLnBrk="1" fontAlgn="auto" latinLnBrk="0" hangingPunct="1">
              <a:lnSpc>
                <a:spcPts val="2267"/>
              </a:lnSpc>
              <a:spcBef>
                <a:spcPts val="1875"/>
              </a:spcBef>
              <a:spcAft>
                <a:spcPts val="1125"/>
              </a:spcAft>
              <a:buClrTx/>
              <a:buSzTx/>
              <a:buFontTx/>
              <a:buNone/>
              <a:tabLst/>
              <a:defRPr/>
            </a:pPr>
            <a:r>
              <a:rPr kumimoji="0" lang="en-US" sz="2040" b="1" i="0" u="none" strike="noStrike" kern="1200" cap="none" spc="0" normalizeH="0" baseline="0" noProof="0" dirty="0">
                <a:ln>
                  <a:noFill/>
                </a:ln>
                <a:solidFill>
                  <a:srgbClr val="4A90E2"/>
                </a:solidFill>
                <a:effectLst/>
                <a:uLnTx/>
                <a:uFillTx/>
                <a:latin typeface="Arial" pitchFamily="34" charset="0"/>
                <a:ea typeface="Arial" pitchFamily="34" charset="-122"/>
                <a:cs typeface="Arial" pitchFamily="34" charset="-120"/>
              </a:rPr>
              <a:t>After Correction:</a:t>
            </a:r>
            <a:endParaRPr kumimoji="0" lang="en-US" sz="20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63693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All confounders removed</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 uniform color distribution in PCA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11318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Variance explained by PC1 increased: </a:t>
            </a:r>
            <a:r>
              <a:rPr kumimoji="0" lang="en-US" sz="1500" b="1" i="0" u="none" strike="noStrike" kern="1200" cap="none" spc="0" normalizeH="0" baseline="0" noProof="0" dirty="0">
                <a:ln>
                  <a:noFill/>
                </a:ln>
                <a:solidFill>
                  <a:srgbClr val="34A853"/>
                </a:solidFill>
                <a:effectLst/>
                <a:uLnTx/>
                <a:uFillTx/>
                <a:latin typeface="Arial" pitchFamily="34" charset="0"/>
                <a:ea typeface="Arial" pitchFamily="34" charset="-122"/>
                <a:cs typeface="Arial" pitchFamily="34" charset="-120"/>
              </a:rPr>
              <a:t>25.5% → 29.4%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6750" y="3589437"/>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900"/>
              </a:spcBef>
              <a:spcAft>
                <a:spcPts val="9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Data now represents biological variation of interest, not technical or death-related artifacts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3912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19125" y="428625"/>
            <a:ext cx="4663440" cy="335310"/>
          </a:xfrm>
          <a:prstGeom prst="rect">
            <a:avLst/>
          </a:prstGeom>
          <a:noFill/>
          <a:ln/>
        </p:spPr>
        <p:txBody>
          <a:bodyPr wrap="square" lIns="0" tIns="0" rIns="0" bIns="0" rtlCol="0" anchor="t"/>
          <a:lstStyle/>
          <a:p>
            <a:pPr marL="0" marR="0" lvl="0" indent="0" algn="l" defTabSz="914400" rtl="0" eaLnBrk="1" fontAlgn="auto" latinLnBrk="0" hangingPunct="1">
              <a:lnSpc>
                <a:spcPts val="2640"/>
              </a:lnSpc>
              <a:spcBef>
                <a:spcPts val="0"/>
              </a:spcBef>
              <a:spcAft>
                <a:spcPts val="1875"/>
              </a:spcAft>
              <a:buClrTx/>
              <a:buSzTx/>
              <a:buFontTx/>
              <a:buNone/>
              <a:tabLst/>
              <a:defRPr/>
            </a:pPr>
            <a:r>
              <a:rPr kumimoji="0" lang="en-US" sz="264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Data Transformation Results</a:t>
            </a:r>
            <a:endParaRPr kumimoji="0" lang="en-US" sz="26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3A2D297F-992F-F235-E352-9D18C7B7DEC1}"/>
              </a:ext>
            </a:extLst>
          </p:cNvPr>
          <p:cNvPicPr>
            <a:picLocks noChangeAspect="1"/>
          </p:cNvPicPr>
          <p:nvPr/>
        </p:nvPicPr>
        <p:blipFill>
          <a:blip r:embed="rId3"/>
          <a:stretch>
            <a:fillRect/>
          </a:stretch>
        </p:blipFill>
        <p:spPr>
          <a:xfrm>
            <a:off x="302525" y="1058357"/>
            <a:ext cx="5296639" cy="733527"/>
          </a:xfrm>
          <a:prstGeom prst="rect">
            <a:avLst/>
          </a:prstGeom>
        </p:spPr>
      </p:pic>
      <p:pic>
        <p:nvPicPr>
          <p:cNvPr id="13" name="Picture 12">
            <a:extLst>
              <a:ext uri="{FF2B5EF4-FFF2-40B4-BE49-F238E27FC236}">
                <a16:creationId xmlns:a16="http://schemas.microsoft.com/office/drawing/2014/main" id="{52DAF4CB-FD45-9698-68B3-3B1B196CA150}"/>
              </a:ext>
            </a:extLst>
          </p:cNvPr>
          <p:cNvPicPr>
            <a:picLocks noChangeAspect="1"/>
          </p:cNvPicPr>
          <p:nvPr/>
        </p:nvPicPr>
        <p:blipFill>
          <a:blip r:embed="rId4"/>
          <a:stretch>
            <a:fillRect/>
          </a:stretch>
        </p:blipFill>
        <p:spPr>
          <a:xfrm>
            <a:off x="302525" y="2086306"/>
            <a:ext cx="8251371" cy="424665"/>
          </a:xfrm>
          <a:prstGeom prst="rect">
            <a:avLst/>
          </a:prstGeom>
        </p:spPr>
      </p:pic>
      <p:pic>
        <p:nvPicPr>
          <p:cNvPr id="15" name="Picture 14">
            <a:extLst>
              <a:ext uri="{FF2B5EF4-FFF2-40B4-BE49-F238E27FC236}">
                <a16:creationId xmlns:a16="http://schemas.microsoft.com/office/drawing/2014/main" id="{1A8513CE-D611-B587-BB2D-7D052B3C4E1C}"/>
              </a:ext>
            </a:extLst>
          </p:cNvPr>
          <p:cNvPicPr>
            <a:picLocks noChangeAspect="1"/>
          </p:cNvPicPr>
          <p:nvPr/>
        </p:nvPicPr>
        <p:blipFill>
          <a:blip r:embed="rId5"/>
          <a:stretch>
            <a:fillRect/>
          </a:stretch>
        </p:blipFill>
        <p:spPr>
          <a:xfrm>
            <a:off x="392754" y="2805393"/>
            <a:ext cx="3801005" cy="1514686"/>
          </a:xfrm>
          <a:prstGeom prst="rect">
            <a:avLst/>
          </a:prstGeom>
        </p:spPr>
      </p:pic>
    </p:spTree>
    <p:extLst>
      <p:ext uri="{BB962C8B-B14F-4D97-AF65-F5344CB8AC3E}">
        <p14:creationId xmlns:p14="http://schemas.microsoft.com/office/powerpoint/2010/main" val="4155274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666750" y="457200"/>
            <a:ext cx="3993071" cy="350490"/>
          </a:xfrm>
          <a:prstGeom prst="rect">
            <a:avLst/>
          </a:prstGeom>
          <a:noFill/>
          <a:ln/>
        </p:spPr>
        <p:txBody>
          <a:bodyPr wrap="square" lIns="0" tIns="0" rIns="0" bIns="0" rtlCol="0" anchor="t"/>
          <a:lstStyle/>
          <a:p>
            <a:pPr marL="0" marR="0" lvl="0" indent="0" algn="l" defTabSz="914400" rtl="0" eaLnBrk="1" fontAlgn="auto" latinLnBrk="0" hangingPunct="1">
              <a:lnSpc>
                <a:spcPts val="2760"/>
              </a:lnSpc>
              <a:spcBef>
                <a:spcPts val="0"/>
              </a:spcBef>
              <a:spcAft>
                <a:spcPts val="2250"/>
              </a:spcAft>
              <a:buClrTx/>
              <a:buSzTx/>
              <a:buFontTx/>
              <a:buNone/>
              <a:tabLst/>
              <a:defRPr/>
            </a:pPr>
            <a:r>
              <a:rPr kumimoji="0" lang="en-US" sz="2760" b="1" i="0" u="none" strike="noStrike" kern="1200" cap="none" spc="0" normalizeH="0" baseline="0" noProof="0" dirty="0">
                <a:ln>
                  <a:noFill/>
                </a:ln>
                <a:solidFill>
                  <a:srgbClr val="6AB0FF"/>
                </a:solidFill>
                <a:effectLst/>
                <a:uLnTx/>
                <a:uFillTx/>
                <a:latin typeface="Arial" pitchFamily="34" charset="0"/>
                <a:ea typeface="Arial" pitchFamily="34" charset="-122"/>
                <a:cs typeface="Arial" pitchFamily="34" charset="-120"/>
              </a:rPr>
              <a:t>Conclusion</a:t>
            </a:r>
            <a:endParaRPr kumimoji="0" lang="en-US" sz="276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66750" y="1093440"/>
            <a:ext cx="7966710" cy="72390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1200"/>
              </a:spcBef>
              <a:spcAft>
                <a:spcPts val="12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Multiple linear regression successfully removed </a:t>
            </a:r>
            <a:r>
              <a:rPr kumimoji="0" lang="en-US" sz="150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both technical and biological confounders</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from gene expression data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66750" y="1969740"/>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1200"/>
              </a:spcBef>
              <a:spcAft>
                <a:spcPts val="1200"/>
              </a:spcAft>
              <a:buClrTx/>
              <a:buSzTx/>
              <a:buFontTx/>
              <a:buNone/>
              <a:tabLst/>
              <a:defRPr/>
            </a:pPr>
            <a:r>
              <a:rPr kumimoji="0" lang="en-US" sz="150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Technical confounders:</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RNA quality (RIN), batch effects (SMNABTCH, SMGEBTCH)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66750" y="2484090"/>
            <a:ext cx="7966710" cy="36195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1200"/>
              </a:spcBef>
              <a:spcAft>
                <a:spcPts val="1200"/>
              </a:spcAft>
              <a:buClrTx/>
              <a:buSzTx/>
              <a:buFontTx/>
              <a:buNone/>
              <a:tabLst/>
              <a:defRPr/>
            </a:pPr>
            <a:r>
              <a:rPr kumimoji="0" lang="en-US" sz="1500" b="1"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Biological confounders:</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Ischemic time, death type (Hardy scale)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66750" y="2998440"/>
            <a:ext cx="7966710" cy="72390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1200"/>
              </a:spcBef>
              <a:spcAft>
                <a:spcPts val="1200"/>
              </a:spcAft>
              <a:buClrTx/>
              <a:buSzTx/>
              <a:buFontTx/>
              <a:buNone/>
              <a:tabLst/>
              <a:defRPr/>
            </a:pP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Residual matrix represents </a:t>
            </a:r>
            <a:r>
              <a:rPr kumimoji="0" lang="en-US" sz="150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cleaned biological signal</a:t>
            </a:r>
            <a:r>
              <a:rPr kumimoji="0" lang="en-US" sz="1500" b="0" i="0" u="none" strike="noStrike" kern="1200" cap="none" spc="0" normalizeH="0" baseline="0" noProof="0" dirty="0">
                <a:ln>
                  <a:noFill/>
                </a:ln>
                <a:solidFill>
                  <a:srgbClr val="E8EAED"/>
                </a:solidFill>
                <a:effectLst/>
                <a:uLnTx/>
                <a:uFillTx/>
                <a:latin typeface="Arial" pitchFamily="34" charset="0"/>
                <a:ea typeface="Arial" pitchFamily="34" charset="-122"/>
                <a:cs typeface="Arial" pitchFamily="34" charset="-120"/>
              </a:rPr>
              <a:t> free from technical and biological artifacts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66750" y="3874740"/>
            <a:ext cx="7966710" cy="72390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1200"/>
              </a:spcBef>
              <a:spcAft>
                <a:spcPts val="1200"/>
              </a:spcAft>
              <a:buClrTx/>
              <a:buSzTx/>
              <a:buFontTx/>
              <a:buNone/>
              <a:tabLst/>
              <a:defRPr/>
            </a:pPr>
            <a:r>
              <a:rPr kumimoji="0" lang="en-US" sz="1500" b="1" i="0" u="none" strike="noStrike" kern="1200" cap="none" spc="0" normalizeH="0" baseline="0" noProof="0" dirty="0">
                <a:ln>
                  <a:noFill/>
                </a:ln>
                <a:solidFill>
                  <a:srgbClr val="FFD93D"/>
                </a:solidFill>
                <a:effectLst/>
                <a:uLnTx/>
                <a:uFillTx/>
                <a:latin typeface="Arial" pitchFamily="34" charset="0"/>
                <a:ea typeface="Arial" pitchFamily="34" charset="-122"/>
                <a:cs typeface="Arial" pitchFamily="34" charset="-120"/>
              </a:rPr>
              <a:t>Data is now ready for biological interpretation and downstream analyses with improved interpretability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5676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379</TotalTime>
  <Words>2669</Words>
  <Application>Microsoft Office PowerPoint</Application>
  <PresentationFormat>On-screen Show (16:9)</PresentationFormat>
  <Paragraphs>356</Paragraphs>
  <Slides>64</Slides>
  <Notes>64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Calibri</vt:lpstr>
      <vt:lpstr>Fira Code</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and Normalization</dc:title>
  <dc:subject>PptxGenJS Presentation</dc:subject>
  <dc:creator>Lab 2 - Bioinformatics</dc:creator>
  <cp:lastModifiedBy>Anas Khoury</cp:lastModifiedBy>
  <cp:revision>20</cp:revision>
  <dcterms:created xsi:type="dcterms:W3CDTF">2025-12-14T01:30:51Z</dcterms:created>
  <dcterms:modified xsi:type="dcterms:W3CDTF">2026-02-26T00:03:04Z</dcterms:modified>
</cp:coreProperties>
</file>